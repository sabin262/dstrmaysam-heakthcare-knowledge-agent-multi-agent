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8454a06dd04adc" /><Relationship Type="http://schemas.openxmlformats.org/officeDocument/2006/relationships/extended-properties" Target="/docProps/app.xml" Id="Rc9e48ad270364615" /><Relationship Type="http://schemas.openxmlformats.org/officeDocument/2006/relationships/officeDocument" Target="/ppt/presentation.xml" Id="Rb9431f98194e4bdd" /></Relationships>
</file>

<file path=ppt/presentation.xml><?xml version="1.0" encoding="utf-8"?>
<p:presentation xmlns:p="http://schemas.openxmlformats.org/presentationml/2006/main">
  <p:sldMasterIdLst>
    <p:sldMasterId xmlns:r="http://schemas.openxmlformats.org/officeDocument/2006/relationships" id="2147483648" r:id="Rdad4cbfd570f4548"/>
  </p:sldMasterIdLst>
  <p:notesMasterIdLst>
    <p:notesMasterId xmlns:r="http://schemas.openxmlformats.org/officeDocument/2006/relationships" r:id="Ref95cdcffeab4da3"/>
  </p:notesMasterIdLst>
  <p:sldIdLst>
    <p:sldId xmlns:r="http://schemas.openxmlformats.org/officeDocument/2006/relationships" id="256" r:id="R5ae4de6aa1fa4f82"/>
    <p:sldId xmlns:r="http://schemas.openxmlformats.org/officeDocument/2006/relationships" id="257" r:id="Rf27bb668fcdb4cd0"/>
    <p:sldId xmlns:r="http://schemas.openxmlformats.org/officeDocument/2006/relationships" id="258" r:id="Re67c5b6f343846c5"/>
    <p:sldId xmlns:r="http://schemas.openxmlformats.org/officeDocument/2006/relationships" id="259" r:id="R19b79ecb16164276"/>
    <p:sldId xmlns:r="http://schemas.openxmlformats.org/officeDocument/2006/relationships" id="260" r:id="Rab36b0f265f94eab"/>
    <p:sldId xmlns:r="http://schemas.openxmlformats.org/officeDocument/2006/relationships" id="261" r:id="Rf89ca1d0a7784640"/>
    <p:sldId xmlns:r="http://schemas.openxmlformats.org/officeDocument/2006/relationships" id="262" r:id="R06e1223b151342a6"/>
    <p:sldId xmlns:r="http://schemas.openxmlformats.org/officeDocument/2006/relationships" id="263" r:id="Ra70dd2f4d64147ff"/>
    <p:sldId xmlns:r="http://schemas.openxmlformats.org/officeDocument/2006/relationships" id="264" r:id="R824288ba8b814e63"/>
    <p:sldId xmlns:r="http://schemas.openxmlformats.org/officeDocument/2006/relationships" id="265" r:id="R2d7044e3b54e41b3"/>
    <p:sldId xmlns:r="http://schemas.openxmlformats.org/officeDocument/2006/relationships" id="266" r:id="R9fe2414626b34b9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1277eb5cb746ad" /><Relationship Type="http://schemas.openxmlformats.org/officeDocument/2006/relationships/slideMaster" Target="/ppt/slideMasters/slideMaster1.xml" Id="Rdad4cbfd570f4548" /><Relationship Type="http://schemas.openxmlformats.org/officeDocument/2006/relationships/notesMaster" Target="/ppt/notesMasters/notesMaster1.xml" Id="Ref95cdcffeab4da3" /><Relationship Type="http://schemas.openxmlformats.org/officeDocument/2006/relationships/presProps" Target="/ppt/presProps.xml" Id="Rddc3831756dc44c8" /><Relationship Type="http://schemas.openxmlformats.org/officeDocument/2006/relationships/tableStyles" Target="/ppt/tableStyles.xml" Id="R4ce522de300f4d73" /><Relationship Type="http://schemas.openxmlformats.org/officeDocument/2006/relationships/slide" Target="/ppt/slides/slide1.xml" Id="R5ae4de6aa1fa4f82" /><Relationship Type="http://schemas.openxmlformats.org/officeDocument/2006/relationships/slide" Target="/ppt/slides/slide2.xml" Id="Rf27bb668fcdb4cd0" /><Relationship Type="http://schemas.openxmlformats.org/officeDocument/2006/relationships/slide" Target="/ppt/slides/slide3.xml" Id="Re67c5b6f343846c5" /><Relationship Type="http://schemas.openxmlformats.org/officeDocument/2006/relationships/slide" Target="/ppt/slides/slide4.xml" Id="R19b79ecb16164276" /><Relationship Type="http://schemas.openxmlformats.org/officeDocument/2006/relationships/slide" Target="/ppt/slides/slide5.xml" Id="Rab36b0f265f94eab" /><Relationship Type="http://schemas.openxmlformats.org/officeDocument/2006/relationships/slide" Target="/ppt/slides/slide6.xml" Id="Rf89ca1d0a7784640" /><Relationship Type="http://schemas.openxmlformats.org/officeDocument/2006/relationships/slide" Target="/ppt/slides/slide7.xml" Id="R06e1223b151342a6" /><Relationship Type="http://schemas.openxmlformats.org/officeDocument/2006/relationships/slide" Target="/ppt/slides/slide8.xml" Id="Ra70dd2f4d64147ff" /><Relationship Type="http://schemas.openxmlformats.org/officeDocument/2006/relationships/slide" Target="/ppt/slides/slide9.xml" Id="R824288ba8b814e63" /><Relationship Type="http://schemas.openxmlformats.org/officeDocument/2006/relationships/slide" Target="/ppt/slides/slide10.xml" Id="R2d7044e3b54e41b3" /><Relationship Type="http://schemas.openxmlformats.org/officeDocument/2006/relationships/slide" Target="/ppt/slides/slide11.xml" Id="R9fe2414626b34b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5e966385584c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af810182504449" /><Relationship Type="http://schemas.openxmlformats.org/officeDocument/2006/relationships/notesMaster" Target="/ppt/notesMasters/notesMaster1.xml" Id="R8279f9899d5849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19b2f9044948f6" /><Relationship Type="http://schemas.openxmlformats.org/officeDocument/2006/relationships/notesMaster" Target="/ppt/notesMasters/notesMaster1.xml" Id="R97dc0299b80147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ce2d3ead7d447c" /><Relationship Type="http://schemas.openxmlformats.org/officeDocument/2006/relationships/notesMaster" Target="/ppt/notesMasters/notesMaster1.xml" Id="R2029cc59eacf47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59aa5657c8460b" /><Relationship Type="http://schemas.openxmlformats.org/officeDocument/2006/relationships/notesMaster" Target="/ppt/notesMasters/notesMaster1.xml" Id="R2c6e326541284e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50ca796bf24151" /><Relationship Type="http://schemas.openxmlformats.org/officeDocument/2006/relationships/notesMaster" Target="/ppt/notesMasters/notesMaster1.xml" Id="R150ea22c98b747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2fbbd1c1ce461f" /><Relationship Type="http://schemas.openxmlformats.org/officeDocument/2006/relationships/notesMaster" Target="/ppt/notesMasters/notesMaster1.xml" Id="Rda284dda89df4b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aab73c1f214db4" /><Relationship Type="http://schemas.openxmlformats.org/officeDocument/2006/relationships/notesMaster" Target="/ppt/notesMasters/notesMaster1.xml" Id="R48f7bd3e67a54a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747227c9864128" /><Relationship Type="http://schemas.openxmlformats.org/officeDocument/2006/relationships/notesMaster" Target="/ppt/notesMasters/notesMaster1.xml" Id="R94b26adad47048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d789b412f14265" /><Relationship Type="http://schemas.openxmlformats.org/officeDocument/2006/relationships/notesMaster" Target="/ppt/notesMasters/notesMaster1.xml" Id="Rbccbc335b36c48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956387cf7f4da9" /><Relationship Type="http://schemas.openxmlformats.org/officeDocument/2006/relationships/notesMaster" Target="/ppt/notesMasters/notesMaster1.xml" Id="R87b3902efe7347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903f3d6f4e54e80" /><Relationship Type="http://schemas.openxmlformats.org/officeDocument/2006/relationships/notesMaster" Target="/ppt/notesMasters/notesMaster1.xml" Id="R62e2761679974b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b485edb58343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f216a4c3274372" /><Relationship Type="http://schemas.openxmlformats.org/officeDocument/2006/relationships/slideLayout" Target="/ppt/slideLayouts/slideLayout1.xml" Id="R2a3f6a7ab4e141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3f6a7ab4e141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ca09009b1a4de7" /><Relationship Type="http://schemas.openxmlformats.org/officeDocument/2006/relationships/notesSlide" Target="/ppt/notesSlides/notesSlide1.xml" Id="Ra2e62d4e500f4b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027a416ac9467d" /><Relationship Type="http://schemas.openxmlformats.org/officeDocument/2006/relationships/notesSlide" Target="/ppt/notesSlides/notesSlide2.xml" Id="Ra1301eaa42bc44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7012dcde2c4e20" /><Relationship Type="http://schemas.openxmlformats.org/officeDocument/2006/relationships/notesSlide" Target="/ppt/notesSlides/notesSlide3.xml" Id="R9d03284f65b546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feee881c4f4bb4" /><Relationship Type="http://schemas.openxmlformats.org/officeDocument/2006/relationships/notesSlide" Target="/ppt/notesSlides/notesSlide4.xml" Id="R8ce56eee7c0245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67622542784028" /><Relationship Type="http://schemas.openxmlformats.org/officeDocument/2006/relationships/notesSlide" Target="/ppt/notesSlides/notesSlide5.xml" Id="R93db016de38648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3c6bba60684d46" /><Relationship Type="http://schemas.openxmlformats.org/officeDocument/2006/relationships/notesSlide" Target="/ppt/notesSlides/notesSlide6.xml" Id="R971bdcf6f7fe44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1815c2f0d3408e" /><Relationship Type="http://schemas.openxmlformats.org/officeDocument/2006/relationships/notesSlide" Target="/ppt/notesSlides/notesSlide7.xml" Id="R72c20a799fc747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b230bdc5d7485d" /><Relationship Type="http://schemas.openxmlformats.org/officeDocument/2006/relationships/notesSlide" Target="/ppt/notesSlides/notesSlide8.xml" Id="Rfb17fa2a5b5a4f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72890a49574e2a" /><Relationship Type="http://schemas.openxmlformats.org/officeDocument/2006/relationships/notesSlide" Target="/ppt/notesSlides/notesSlide9.xml" Id="R710dbc931c1d43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2029cbaf4d4e42" /><Relationship Type="http://schemas.openxmlformats.org/officeDocument/2006/relationships/notesSlide" Target="/ppt/notesSlides/notesSlide10.xml" Id="R8e93df38b3f742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1814ca80474d56" /><Relationship Type="http://schemas.openxmlformats.org/officeDocument/2006/relationships/notesSlide" Target="/ppt/notesSlides/notesSlide11.xml" Id="R8b91c25c5b984d4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3F5FF6-74BF-4C1D-9E5F-DDD061C172AB}"/>
              </a:ext>
            </a:extLst>
          </p:cNvPr>
          <p:cNvSpPr>
            <a:spLocks xmlns:a="http://schemas.openxmlformats.org/drawingml/2006/main" noGrp="1"/>
          </p:cNvSpPr>
          <p:nvPr/>
        </p:nvSpPr>
        <p:spPr>
          <a:xfrm xmlns:a="http://schemas.openxmlformats.org/drawingml/2006/main">
            <a:off x="400050" y="876300"/>
            <a:ext cx="7429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111111"/>
                </a:solidFill>
              </a:defRPr>
            </a:pPr>
            <a:r>
              <a:rPr sz="4350" b="1">
                <a:solidFill>
                  <a:srgbClr val="111111"/>
                </a:solidFill>
              </a:rPr>
              <a:t>Healthcare Knowledge</a:t>
            </a:r>
          </a:p>
          <a:p xmlns:a="http://schemas.openxmlformats.org/drawingml/2006/main">
            <a:pPr algn="l">
              <a:defRPr sz="4350" b="1">
                <a:solidFill>
                  <a:srgbClr val="111111"/>
                </a:solidFill>
              </a:defRPr>
            </a:pPr>
            <a:r>
              <a:rPr sz="4350" b="1">
                <a:solidFill>
                  <a:srgbClr val="111111"/>
                </a:solidFill>
              </a:rPr>
              <a:t>Multi-Agent System</a:t>
            </a:r>
          </a:p>
        </p:txBody>
      </p:sp>
      <p:sp>
        <p:nvSpPr>
          <p:cNvPr id="2" name="">
            <a:extLst xmlns:a="http://schemas.openxmlformats.org/drawingml/2006/main">
              <a:ext uri="{FF2B5EF4-FFF2-40B4-BE49-F238E27FC236}">
                <a16:creationId xmlns:a16="http://schemas.microsoft.com/office/drawing/2014/main" id="{74D6BB22-F6F6-4695-BCE2-491030F41715}"/>
              </a:ext>
            </a:extLst>
          </p:cNvPr>
          <p:cNvSpPr>
            <a:spLocks xmlns:a="http://schemas.openxmlformats.org/drawingml/2006/main" noGrp="1"/>
          </p:cNvSpPr>
          <p:nvPr/>
        </p:nvSpPr>
        <p:spPr>
          <a:xfrm xmlns:a="http://schemas.openxmlformats.org/drawingml/2006/main">
            <a:off x="400050" y="3143250"/>
            <a:ext cx="6572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555555"/>
                </a:solidFill>
              </a:defRPr>
            </a:pPr>
            <a:r>
              <a:rPr sz="1800" b="0">
                <a:solidFill>
                  <a:srgbClr val="555555"/>
                </a:solidFill>
              </a:rPr>
              <a:t>A short demo deck for a governed hospital knowledge assistant that answers from live operational data, indexed documents, and specialist agents.</a:t>
            </a:r>
          </a:p>
        </p:txBody>
      </p:sp>
      <p:sp>
        <p:nvSpPr>
          <p:cNvPr id="3" name="15 minute presentation and demo">
            <a:extLst xmlns:a="http://schemas.openxmlformats.org/drawingml/2006/main">
              <a:ext uri="{FF2B5EF4-FFF2-40B4-BE49-F238E27FC236}">
                <a16:creationId xmlns:a16="http://schemas.microsoft.com/office/drawing/2014/main" id="{C0E405A2-7273-4771-8010-FA3515DE65FD}"/>
              </a:ext>
            </a:extLst>
          </p:cNvPr>
          <p:cNvSpPr>
            <a:spLocks xmlns:a="http://schemas.openxmlformats.org/drawingml/2006/main" noGrp="1"/>
          </p:cNvSpPr>
          <p:nvPr/>
        </p:nvSpPr>
        <p:spPr>
          <a:xfrm xmlns:a="http://schemas.openxmlformats.org/drawingml/2006/main">
            <a:off x="7829550" y="1143000"/>
            <a:ext cx="3333750" cy="1143000"/>
          </a:xfrm>
          <a:prstGeom xmlns:a="http://schemas.openxmlformats.org/drawingml/2006/main" prst="roundRect">
            <a:avLst>
              <a:gd name="adj" fmla="val 6667"/>
            </a:avLst>
          </a:prstGeom>
          <a:solidFill xmlns:a="http://schemas.openxmlformats.org/drawingml/2006/main">
            <a:srgbClr val="F6F6F6"/>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pPr algn="ctr">
              <a:defRPr sz="1875" b="1">
                <a:solidFill>
                  <a:srgbClr val="111111"/>
                </a:solidFill>
              </a:defRPr>
            </a:pPr>
            <a:r>
              <a:rPr sz="1875" b="1">
                <a:solidFill>
                  <a:srgbClr val="111111"/>
                </a:solidFill>
              </a:rPr>
              <a:t>15 minute presentation and demo</a:t>
            </a:r>
          </a:p>
        </p:txBody>
      </p:sp>
      <p:sp>
        <p:nvSpPr>
          <p:cNvPr id="4" name="Built from the current codebase">
            <a:extLst xmlns:a="http://schemas.openxmlformats.org/drawingml/2006/main">
              <a:ext uri="{FF2B5EF4-FFF2-40B4-BE49-F238E27FC236}">
                <a16:creationId xmlns:a16="http://schemas.microsoft.com/office/drawing/2014/main" id="{961B7E72-4518-4707-8C28-CE653B490F96}"/>
              </a:ext>
            </a:extLst>
          </p:cNvPr>
          <p:cNvSpPr>
            <a:spLocks xmlns:a="http://schemas.openxmlformats.org/drawingml/2006/main" noGrp="1"/>
          </p:cNvSpPr>
          <p:nvPr/>
        </p:nvSpPr>
        <p:spPr>
          <a:xfrm xmlns:a="http://schemas.openxmlformats.org/drawingml/2006/main">
            <a:off x="7829550" y="2667000"/>
            <a:ext cx="3333750" cy="1143000"/>
          </a:xfrm>
          <a:prstGeom xmlns:a="http://schemas.openxmlformats.org/drawingml/2006/main" prst="roundRect">
            <a:avLst>
              <a:gd name="adj" fmla="val 6667"/>
            </a:avLst>
          </a:prstGeom>
          <a:solidFill xmlns:a="http://schemas.openxmlformats.org/drawingml/2006/main">
            <a:srgbClr val="FFF7ED"/>
          </a:solidFill>
          <a:ln xmlns:a="http://schemas.openxmlformats.org/drawingml/2006/main" w="9525">
            <a:solidFill>
              <a:srgbClr val="FF6B35"/>
            </a:solidFill>
            <a:prstDash val="solid"/>
          </a:ln>
        </p:spPr>
        <p:txBody>
          <a:bodyPr xmlns:a="http://schemas.openxmlformats.org/drawingml/2006/main"/>
          <a:lstStyle xmlns:a="http://schemas.openxmlformats.org/drawingml/2006/main"/>
          <a:p xmlns:a="http://schemas.openxmlformats.org/drawingml/2006/main">
            <a:pPr algn="ctr">
              <a:defRPr sz="1875" b="1">
                <a:solidFill>
                  <a:srgbClr val="111111"/>
                </a:solidFill>
              </a:defRPr>
            </a:pPr>
            <a:r>
              <a:rPr sz="1875" b="1">
                <a:solidFill>
                  <a:srgbClr val="111111"/>
                </a:solidFill>
              </a:rPr>
              <a:t>Built from the current codebase</a:t>
            </a:r>
          </a:p>
        </p:txBody>
      </p:sp>
      <p:sp>
        <p:nvSpPr>
          <p:cNvPr id="5" name="">
            <a:extLst xmlns:a="http://schemas.openxmlformats.org/drawingml/2006/main">
              <a:ext uri="{FF2B5EF4-FFF2-40B4-BE49-F238E27FC236}">
                <a16:creationId xmlns:a16="http://schemas.microsoft.com/office/drawing/2014/main" id="{BC09B87A-E887-4C3F-B8B3-104D76B5954B}"/>
              </a:ext>
            </a:extLst>
          </p:cNvPr>
          <p:cNvSpPr>
            <a:spLocks xmlns:a="http://schemas.openxmlformats.org/drawingml/2006/main" noGrp="1"/>
          </p:cNvSpPr>
          <p:nvPr/>
        </p:nvSpPr>
        <p:spPr>
          <a:xfrm xmlns:a="http://schemas.openxmlformats.org/drawingml/2006/main">
            <a:off x="400050" y="6381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dstrmaysam healthcare knowledge multi-agent</a:t>
            </a:r>
          </a:p>
        </p:txBody>
      </p:sp>
      <p:sp>
        <p:nvSpPr>
          <p:cNvPr id="6" name="">
            <a:extLst xmlns:a="http://schemas.openxmlformats.org/drawingml/2006/main">
              <a:ext uri="{FF2B5EF4-FFF2-40B4-BE49-F238E27FC236}">
                <a16:creationId xmlns:a16="http://schemas.microsoft.com/office/drawing/2014/main" id="{B63A73A5-231F-4F4A-9AD4-F19AF1233FF9}"/>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defRPr>
            </a:pPr>
            <a:r>
              <a:rPr sz="975" b="0">
                <a:solidFill>
                  <a:srgbClr val="555555"/>
                </a:solidFill>
              </a:rPr>
              <a:t>01</a:t>
            </a:r>
          </a:p>
        </p:txBody>
      </p:sp>
    </p:spTree>
    <p:extLst>
      <p:ext uri="{BB962C8B-B14F-4D97-AF65-F5344CB8AC3E}">
        <p14:creationId xmlns:p14="http://schemas.microsoft.com/office/powerpoint/2010/main" val="21181431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8EB13C-1F39-4E1D-8C6D-9835B7393D35}"/>
              </a:ext>
            </a:extLst>
          </p:cNvPr>
          <p:cNvSpPr>
            <a:spLocks xmlns:a="http://schemas.openxmlformats.org/drawingml/2006/main" noGrp="1"/>
          </p:cNvSpPr>
          <p:nvPr/>
        </p:nvSpPr>
        <p:spPr>
          <a:xfrm xmlns:a="http://schemas.openxmlformats.org/drawingml/2006/main">
            <a:off x="400050" y="304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55555"/>
                </a:solidFill>
              </a:defRPr>
            </a:pPr>
            <a:r>
              <a:rPr sz="1050" b="1">
                <a:solidFill>
                  <a:srgbClr val="555555"/>
                </a:solidFill>
              </a:rPr>
              <a:t>PROBLEM STATEMENT</a:t>
            </a:r>
          </a:p>
        </p:txBody>
      </p:sp>
      <p:sp>
        <p:nvSpPr>
          <p:cNvPr id="2" name="">
            <a:extLst xmlns:a="http://schemas.openxmlformats.org/drawingml/2006/main">
              <a:ext uri="{FF2B5EF4-FFF2-40B4-BE49-F238E27FC236}">
                <a16:creationId xmlns:a16="http://schemas.microsoft.com/office/drawing/2014/main" id="{266522A0-1301-4E59-8C44-9433754E9A9D}"/>
              </a:ext>
            </a:extLst>
          </p:cNvPr>
          <p:cNvSpPr>
            <a:spLocks xmlns:a="http://schemas.openxmlformats.org/drawingml/2006/main" noGrp="1"/>
          </p:cNvSpPr>
          <p:nvPr/>
        </p:nvSpPr>
        <p:spPr>
          <a:xfrm xmlns:a="http://schemas.openxmlformats.org/drawingml/2006/main">
            <a:off x="400050" y="628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11111"/>
                </a:solidFill>
              </a:defRPr>
            </a:pPr>
            <a:r>
              <a:rPr sz="2925" b="1">
                <a:solidFill>
                  <a:srgbClr val="111111"/>
                </a:solidFill>
              </a:rPr>
              <a:t>The problem is trusted hospital knowledge is spread across too many places</a:t>
            </a:r>
          </a:p>
        </p:txBody>
      </p:sp>
      <p:sp>
        <p:nvSpPr>
          <p:cNvPr id="3" name="">
            <a:extLst xmlns:a="http://schemas.openxmlformats.org/drawingml/2006/main">
              <a:ext uri="{FF2B5EF4-FFF2-40B4-BE49-F238E27FC236}">
                <a16:creationId xmlns:a16="http://schemas.microsoft.com/office/drawing/2014/main" id="{F95C3030-C08D-4794-ACF3-CA1E588BEAB0}"/>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C578C086-0C1A-4AE2-816B-A2B14A1E22A3}"/>
              </a:ext>
            </a:extLst>
          </p:cNvPr>
          <p:cNvSpPr>
            <a:spLocks xmlns:a="http://schemas.openxmlformats.org/drawingml/2006/main" noGrp="1"/>
          </p:cNvSpPr>
          <p:nvPr/>
        </p:nvSpPr>
        <p:spPr>
          <a:xfrm xmlns:a="http://schemas.openxmlformats.org/drawingml/2006/main">
            <a:off x="400050" y="6381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dstrmaysam healthcare knowledge multi-agent</a:t>
            </a:r>
          </a:p>
        </p:txBody>
      </p:sp>
      <p:sp>
        <p:nvSpPr>
          <p:cNvPr id="5" name="">
            <a:extLst xmlns:a="http://schemas.openxmlformats.org/drawingml/2006/main">
              <a:ext uri="{FF2B5EF4-FFF2-40B4-BE49-F238E27FC236}">
                <a16:creationId xmlns:a16="http://schemas.microsoft.com/office/drawing/2014/main" id="{0FCF16B4-6D17-42A4-A8C3-7CA25C5F17F2}"/>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defRPr>
            </a:pPr>
            <a:r>
              <a:rPr sz="975" b="0">
                <a:solidFill>
                  <a:srgbClr val="555555"/>
                </a:solidFill>
              </a:rPr>
              <a:t>02</a:t>
            </a:r>
          </a:p>
        </p:txBody>
      </p:sp>
      <p:sp>
        <p:nvSpPr>
          <p:cNvPr id="6" name="">
            <a:extLst xmlns:a="http://schemas.openxmlformats.org/drawingml/2006/main">
              <a:ext uri="{FF2B5EF4-FFF2-40B4-BE49-F238E27FC236}">
                <a16:creationId xmlns:a16="http://schemas.microsoft.com/office/drawing/2014/main" id="{003EBE28-A25E-42A1-8624-700C03995FCD}"/>
              </a:ext>
            </a:extLst>
          </p:cNvPr>
          <p:cNvSpPr>
            <a:spLocks xmlns:a="http://schemas.openxmlformats.org/drawingml/2006/main" noGrp="1"/>
          </p:cNvSpPr>
          <p:nvPr/>
        </p:nvSpPr>
        <p:spPr>
          <a:xfrm xmlns:a="http://schemas.openxmlformats.org/drawingml/2006/main">
            <a:off x="723900" y="2000250"/>
            <a:ext cx="68580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11111"/>
                </a:solidFill>
              </a:defRPr>
            </a:pPr>
            <a:r>
              <a:rPr sz="1800" b="0">
                <a:solidFill>
                  <a:srgbClr val="111111"/>
                </a:solidFill>
              </a:rPr>
              <a:t>- Staff need quick answers from policies, rotas, equipment records, patient context, and document repositories.</a:t>
            </a:r>
          </a:p>
          <a:p xmlns:a="http://schemas.openxmlformats.org/drawingml/2006/main">
            <a:pPr algn="l">
              <a:defRPr sz="1800" b="0">
                <a:solidFill>
                  <a:srgbClr val="111111"/>
                </a:solidFill>
              </a:defRPr>
            </a:pPr>
            <a:r>
              <a:rPr sz="1800" b="0">
                <a:solidFill>
                  <a:srgbClr val="111111"/>
                </a:solidFill>
              </a:rPr>
              <a:t>- Searching each system separately slows decisions and increases the chance of using stale information.</a:t>
            </a:r>
          </a:p>
          <a:p xmlns:a="http://schemas.openxmlformats.org/drawingml/2006/main">
            <a:pPr algn="l">
              <a:defRPr sz="1800" b="0">
                <a:solidFill>
                  <a:srgbClr val="111111"/>
                </a:solidFill>
              </a:defRPr>
            </a:pPr>
            <a:r>
              <a:rPr sz="1800" b="0">
                <a:solidFill>
                  <a:srgbClr val="111111"/>
                </a:solidFill>
              </a:rPr>
              <a:t>- Operational facts and policy guidance need different handling, but users should not have to know where to search.</a:t>
            </a:r>
          </a:p>
          <a:p xmlns:a="http://schemas.openxmlformats.org/drawingml/2006/main">
            <a:pPr algn="l">
              <a:defRPr sz="1800" b="0">
                <a:solidFill>
                  <a:srgbClr val="111111"/>
                </a:solidFill>
              </a:defRPr>
            </a:pPr>
            <a:r>
              <a:rPr sz="1800" b="0">
                <a:solidFill>
                  <a:srgbClr val="111111"/>
                </a:solidFill>
              </a:rPr>
              <a:t>- Governance matters: answers must respect roles, safety risk, source evidence, and auditability.</a:t>
            </a:r>
          </a:p>
        </p:txBody>
      </p:sp>
      <p:sp>
        <p:nvSpPr>
          <p:cNvPr id="7" name="">
            <a:extLst xmlns:a="http://schemas.openxmlformats.org/drawingml/2006/main">
              <a:ext uri="{FF2B5EF4-FFF2-40B4-BE49-F238E27FC236}">
                <a16:creationId xmlns:a16="http://schemas.microsoft.com/office/drawing/2014/main" id="{D958804B-7242-4B19-B072-EB3E48124952}"/>
              </a:ext>
            </a:extLst>
          </p:cNvPr>
          <p:cNvSpPr>
            <a:spLocks xmlns:a="http://schemas.openxmlformats.org/drawingml/2006/main" noGrp="1"/>
          </p:cNvSpPr>
          <p:nvPr/>
        </p:nvSpPr>
        <p:spPr>
          <a:xfrm xmlns:a="http://schemas.openxmlformats.org/drawingml/2006/main">
            <a:off x="8572500" y="2190750"/>
            <a:ext cx="2476500" cy="1619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7A287C2-26EB-4DF8-9880-6C98247AC9C8}"/>
              </a:ext>
            </a:extLst>
          </p:cNvPr>
          <p:cNvSpPr>
            <a:spLocks xmlns:a="http://schemas.openxmlformats.org/drawingml/2006/main" noGrp="1"/>
          </p:cNvSpPr>
          <p:nvPr/>
        </p:nvSpPr>
        <p:spPr>
          <a:xfrm xmlns:a="http://schemas.openxmlformats.org/drawingml/2006/main">
            <a:off x="8763000" y="2457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FF6B35"/>
                </a:solidFill>
              </a:defRPr>
            </a:pPr>
            <a:r>
              <a:rPr sz="2400" b="1">
                <a:solidFill>
                  <a:srgbClr val="FF6B35"/>
                </a:solidFill>
              </a:rPr>
              <a:t>One front door</a:t>
            </a:r>
          </a:p>
        </p:txBody>
      </p:sp>
      <p:sp>
        <p:nvSpPr>
          <p:cNvPr id="9" name="">
            <a:extLst xmlns:a="http://schemas.openxmlformats.org/drawingml/2006/main">
              <a:ext uri="{FF2B5EF4-FFF2-40B4-BE49-F238E27FC236}">
                <a16:creationId xmlns:a16="http://schemas.microsoft.com/office/drawing/2014/main" id="{EF053677-0274-4608-97D2-EAF4DAD9063B}"/>
              </a:ext>
            </a:extLst>
          </p:cNvPr>
          <p:cNvSpPr>
            <a:spLocks xmlns:a="http://schemas.openxmlformats.org/drawingml/2006/main" noGrp="1"/>
          </p:cNvSpPr>
          <p:nvPr/>
        </p:nvSpPr>
        <p:spPr>
          <a:xfrm xmlns:a="http://schemas.openxmlformats.org/drawingml/2006/main">
            <a:off x="8763000" y="30099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for chat, documents, CRM, evaluations, and admin controls</a:t>
            </a:r>
          </a:p>
        </p:txBody>
      </p:sp>
      <p:sp>
        <p:nvSpPr>
          <p:cNvPr id="10" name="">
            <a:extLst xmlns:a="http://schemas.openxmlformats.org/drawingml/2006/main">
              <a:ext uri="{FF2B5EF4-FFF2-40B4-BE49-F238E27FC236}">
                <a16:creationId xmlns:a16="http://schemas.microsoft.com/office/drawing/2014/main" id="{05B8FD3E-D280-4A25-A58E-2479598E3560}"/>
              </a:ext>
            </a:extLst>
          </p:cNvPr>
          <p:cNvSpPr>
            <a:spLocks xmlns:a="http://schemas.openxmlformats.org/drawingml/2006/main" noGrp="1"/>
          </p:cNvSpPr>
          <p:nvPr/>
        </p:nvSpPr>
        <p:spPr>
          <a:xfrm xmlns:a="http://schemas.openxmlformats.org/drawingml/2006/main">
            <a:off x="8572500" y="4095750"/>
            <a:ext cx="2476500" cy="1619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64893DF-E638-44E6-A360-9FBD57B57250}"/>
              </a:ext>
            </a:extLst>
          </p:cNvPr>
          <p:cNvSpPr>
            <a:spLocks xmlns:a="http://schemas.openxmlformats.org/drawingml/2006/main" noGrp="1"/>
          </p:cNvSpPr>
          <p:nvPr/>
        </p:nvSpPr>
        <p:spPr>
          <a:xfrm xmlns:a="http://schemas.openxmlformats.org/drawingml/2006/main">
            <a:off x="8763000" y="4362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0E7490"/>
                </a:solidFill>
              </a:defRPr>
            </a:pPr>
            <a:r>
              <a:rPr sz="2400" b="1">
                <a:solidFill>
                  <a:srgbClr val="0E7490"/>
                </a:solidFill>
              </a:rPr>
              <a:t>Grounded answers</a:t>
            </a:r>
          </a:p>
        </p:txBody>
      </p:sp>
      <p:sp>
        <p:nvSpPr>
          <p:cNvPr id="12" name="">
            <a:extLst xmlns:a="http://schemas.openxmlformats.org/drawingml/2006/main">
              <a:ext uri="{FF2B5EF4-FFF2-40B4-BE49-F238E27FC236}">
                <a16:creationId xmlns:a16="http://schemas.microsoft.com/office/drawing/2014/main" id="{D97E463C-705B-4414-8A85-9F155D9CAADA}"/>
              </a:ext>
            </a:extLst>
          </p:cNvPr>
          <p:cNvSpPr>
            <a:spLocks xmlns:a="http://schemas.openxmlformats.org/drawingml/2006/main" noGrp="1"/>
          </p:cNvSpPr>
          <p:nvPr/>
        </p:nvSpPr>
        <p:spPr>
          <a:xfrm xmlns:a="http://schemas.openxmlformats.org/drawingml/2006/main">
            <a:off x="8763000" y="49149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from Postgres tables and indexed evidence rather than memory alone</a:t>
            </a:r>
          </a:p>
        </p:txBody>
      </p:sp>
    </p:spTree>
    <p:extLst>
      <p:ext uri="{BB962C8B-B14F-4D97-AF65-F5344CB8AC3E}">
        <p14:creationId xmlns:p14="http://schemas.microsoft.com/office/powerpoint/2010/main" val="3580231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F09E75-6BA6-486A-BF8D-8586300A8CEC}"/>
              </a:ext>
            </a:extLst>
          </p:cNvPr>
          <p:cNvSpPr>
            <a:spLocks xmlns:a="http://schemas.openxmlformats.org/drawingml/2006/main" noGrp="1"/>
          </p:cNvSpPr>
          <p:nvPr/>
        </p:nvSpPr>
        <p:spPr>
          <a:xfrm xmlns:a="http://schemas.openxmlformats.org/drawingml/2006/main">
            <a:off x="400050" y="304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55555"/>
                </a:solidFill>
              </a:defRPr>
            </a:pPr>
            <a:r>
              <a:rPr sz="1050" b="1">
                <a:solidFill>
                  <a:srgbClr val="555555"/>
                </a:solidFill>
              </a:rPr>
              <a:t>STAKEHOLDER ARCHITECTURE</a:t>
            </a:r>
          </a:p>
        </p:txBody>
      </p:sp>
      <p:sp>
        <p:nvSpPr>
          <p:cNvPr id="2" name="">
            <a:extLst xmlns:a="http://schemas.openxmlformats.org/drawingml/2006/main">
              <a:ext uri="{FF2B5EF4-FFF2-40B4-BE49-F238E27FC236}">
                <a16:creationId xmlns:a16="http://schemas.microsoft.com/office/drawing/2014/main" id="{D5B152F2-086C-4FFF-9B4F-E7265117C4A4}"/>
              </a:ext>
            </a:extLst>
          </p:cNvPr>
          <p:cNvSpPr>
            <a:spLocks xmlns:a="http://schemas.openxmlformats.org/drawingml/2006/main" noGrp="1"/>
          </p:cNvSpPr>
          <p:nvPr/>
        </p:nvSpPr>
        <p:spPr>
          <a:xfrm xmlns:a="http://schemas.openxmlformats.org/drawingml/2006/main">
            <a:off x="400050" y="628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11111"/>
                </a:solidFill>
              </a:defRPr>
            </a:pPr>
            <a:r>
              <a:rPr sz="2925" b="1">
                <a:solidFill>
                  <a:srgbClr val="111111"/>
                </a:solidFill>
              </a:rPr>
              <a:t>The system gives staff a single governed way to ask and act</a:t>
            </a:r>
          </a:p>
        </p:txBody>
      </p:sp>
      <p:sp>
        <p:nvSpPr>
          <p:cNvPr id="3" name="">
            <a:extLst xmlns:a="http://schemas.openxmlformats.org/drawingml/2006/main">
              <a:ext uri="{FF2B5EF4-FFF2-40B4-BE49-F238E27FC236}">
                <a16:creationId xmlns:a16="http://schemas.microsoft.com/office/drawing/2014/main" id="{9004A985-B754-415A-B5A9-FD3B0786909A}"/>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2AE572E1-AED7-4476-906D-65966F116FA6}"/>
              </a:ext>
            </a:extLst>
          </p:cNvPr>
          <p:cNvSpPr>
            <a:spLocks xmlns:a="http://schemas.openxmlformats.org/drawingml/2006/main" noGrp="1"/>
          </p:cNvSpPr>
          <p:nvPr/>
        </p:nvSpPr>
        <p:spPr>
          <a:xfrm xmlns:a="http://schemas.openxmlformats.org/drawingml/2006/main">
            <a:off x="400050" y="6381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dstrmaysam healthcare knowledge multi-agent</a:t>
            </a:r>
          </a:p>
        </p:txBody>
      </p:sp>
      <p:sp>
        <p:nvSpPr>
          <p:cNvPr id="5" name="">
            <a:extLst xmlns:a="http://schemas.openxmlformats.org/drawingml/2006/main">
              <a:ext uri="{FF2B5EF4-FFF2-40B4-BE49-F238E27FC236}">
                <a16:creationId xmlns:a16="http://schemas.microsoft.com/office/drawing/2014/main" id="{9D586B91-D0C1-446F-903A-5516098173EB}"/>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defRPr>
            </a:pPr>
            <a:r>
              <a:rPr sz="975" b="0">
                <a:solidFill>
                  <a:srgbClr val="555555"/>
                </a:solidFill>
              </a:rPr>
              <a:t>03</a:t>
            </a:r>
          </a:p>
        </p:txBody>
      </p:sp>
      <p:sp>
        <p:nvSpPr>
          <p:cNvPr id="6" name="Hospital teams&#10;Chat, CRM, Documents,&#10;WhatsApp">
            <a:extLst xmlns:a="http://schemas.openxmlformats.org/drawingml/2006/main">
              <a:ext uri="{FF2B5EF4-FFF2-40B4-BE49-F238E27FC236}">
                <a16:creationId xmlns:a16="http://schemas.microsoft.com/office/drawing/2014/main" id="{CFD8D8D3-5847-401D-834B-66D698D56358}"/>
              </a:ext>
            </a:extLst>
          </p:cNvPr>
          <p:cNvSpPr>
            <a:spLocks xmlns:a="http://schemas.openxmlformats.org/drawingml/2006/main" noGrp="1"/>
          </p:cNvSpPr>
          <p:nvPr/>
        </p:nvSpPr>
        <p:spPr>
          <a:xfrm xmlns:a="http://schemas.openxmlformats.org/drawingml/2006/main">
            <a:off x="590550" y="2857500"/>
            <a:ext cx="2000250" cy="1047750"/>
          </a:xfrm>
          <a:prstGeom xmlns:a="http://schemas.openxmlformats.org/drawingml/2006/main" prst="roundRect">
            <a:avLst>
              <a:gd name="adj" fmla="val 7273"/>
            </a:avLst>
          </a:prstGeom>
          <a:solidFill xmlns:a="http://schemas.openxmlformats.org/drawingml/2006/main">
            <a:srgbClr val="FFF7ED"/>
          </a:solidFill>
          <a:ln xmlns:a="http://schemas.openxmlformats.org/drawingml/2006/main" w="9525">
            <a:solidFill>
              <a:srgbClr val="FF6B35"/>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defRPr>
            </a:pPr>
            <a:r>
              <a:rPr sz="1350" b="1">
                <a:solidFill>
                  <a:srgbClr val="111111"/>
                </a:solidFill>
              </a:rPr>
              <a:t>Hospital teams</a:t>
            </a:r>
          </a:p>
          <a:p xmlns:a="http://schemas.openxmlformats.org/drawingml/2006/main">
            <a:pPr algn="ctr">
              <a:defRPr sz="1350" b="1">
                <a:solidFill>
                  <a:srgbClr val="111111"/>
                </a:solidFill>
              </a:defRPr>
            </a:pPr>
            <a:r>
              <a:rPr sz="1350" b="1">
                <a:solidFill>
                  <a:srgbClr val="111111"/>
                </a:solidFill>
              </a:rPr>
              <a:t>Chat, CRM, Documents,</a:t>
            </a:r>
          </a:p>
          <a:p xmlns:a="http://schemas.openxmlformats.org/drawingml/2006/main">
            <a:pPr algn="ctr">
              <a:defRPr sz="1350" b="1">
                <a:solidFill>
                  <a:srgbClr val="111111"/>
                </a:solidFill>
              </a:defRPr>
            </a:pPr>
            <a:r>
              <a:rPr sz="1350" b="1">
                <a:solidFill>
                  <a:srgbClr val="111111"/>
                </a:solidFill>
              </a:rPr>
              <a:t>WhatsApp</a:t>
            </a:r>
          </a:p>
        </p:txBody>
      </p:sp>
      <p:sp>
        <p:nvSpPr>
          <p:cNvPr id="7" name="Healthcare&#10;knowledge app">
            <a:extLst xmlns:a="http://schemas.openxmlformats.org/drawingml/2006/main">
              <a:ext uri="{FF2B5EF4-FFF2-40B4-BE49-F238E27FC236}">
                <a16:creationId xmlns:a16="http://schemas.microsoft.com/office/drawing/2014/main" id="{326FDE07-84B0-4B25-90FA-D5D7C642C0A7}"/>
              </a:ext>
            </a:extLst>
          </p:cNvPr>
          <p:cNvSpPr>
            <a:spLocks xmlns:a="http://schemas.openxmlformats.org/drawingml/2006/main" noGrp="1"/>
          </p:cNvSpPr>
          <p:nvPr/>
        </p:nvSpPr>
        <p:spPr>
          <a:xfrm xmlns:a="http://schemas.openxmlformats.org/drawingml/2006/main">
            <a:off x="3219450" y="2743200"/>
            <a:ext cx="2000250" cy="1276350"/>
          </a:xfrm>
          <a:prstGeom xmlns:a="http://schemas.openxmlformats.org/drawingml/2006/main" prst="roundRect">
            <a:avLst>
              <a:gd name="adj" fmla="val 5970"/>
            </a:avLst>
          </a:prstGeom>
          <a:solidFill xmlns:a="http://schemas.openxmlformats.org/drawingml/2006/main">
            <a:srgbClr val="FFFFFF"/>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defRPr>
            </a:pPr>
            <a:r>
              <a:rPr sz="1350" b="1">
                <a:solidFill>
                  <a:srgbClr val="111111"/>
                </a:solidFill>
              </a:rPr>
              <a:t>Healthcare</a:t>
            </a:r>
          </a:p>
          <a:p xmlns:a="http://schemas.openxmlformats.org/drawingml/2006/main">
            <a:pPr algn="ctr">
              <a:defRPr sz="1350" b="1">
                <a:solidFill>
                  <a:srgbClr val="111111"/>
                </a:solidFill>
              </a:defRPr>
            </a:pPr>
            <a:r>
              <a:rPr sz="1350" b="1">
                <a:solidFill>
                  <a:srgbClr val="111111"/>
                </a:solidFill>
              </a:rPr>
              <a:t>knowledge app</a:t>
            </a:r>
          </a:p>
        </p:txBody>
      </p:sp>
      <p:sp>
        <p:nvSpPr>
          <p:cNvPr id="8" name="Multi-agent&#10;reasoning">
            <a:extLst xmlns:a="http://schemas.openxmlformats.org/drawingml/2006/main">
              <a:ext uri="{FF2B5EF4-FFF2-40B4-BE49-F238E27FC236}">
                <a16:creationId xmlns:a16="http://schemas.microsoft.com/office/drawing/2014/main" id="{02FB3F4E-763C-4CA5-9D99-A5FADC7AC006}"/>
              </a:ext>
            </a:extLst>
          </p:cNvPr>
          <p:cNvSpPr>
            <a:spLocks xmlns:a="http://schemas.openxmlformats.org/drawingml/2006/main" noGrp="1"/>
          </p:cNvSpPr>
          <p:nvPr/>
        </p:nvSpPr>
        <p:spPr>
          <a:xfrm xmlns:a="http://schemas.openxmlformats.org/drawingml/2006/main">
            <a:off x="5981700" y="2476500"/>
            <a:ext cx="2095500" cy="1809750"/>
          </a:xfrm>
          <a:prstGeom xmlns:a="http://schemas.openxmlformats.org/drawingml/2006/main" prst="roundRect">
            <a:avLst>
              <a:gd name="adj" fmla="val 4211"/>
            </a:avLst>
          </a:prstGeom>
          <a:solidFill xmlns:a="http://schemas.openxmlformats.org/drawingml/2006/main">
            <a:srgbClr val="F0FDFA"/>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defRPr>
            </a:pPr>
            <a:r>
              <a:rPr sz="1350" b="1">
                <a:solidFill>
                  <a:srgbClr val="111111"/>
                </a:solidFill>
              </a:rPr>
              <a:t>Multi-agent</a:t>
            </a:r>
          </a:p>
          <a:p xmlns:a="http://schemas.openxmlformats.org/drawingml/2006/main">
            <a:pPr algn="ctr">
              <a:defRPr sz="1350" b="1">
                <a:solidFill>
                  <a:srgbClr val="111111"/>
                </a:solidFill>
              </a:defRPr>
            </a:pPr>
            <a:r>
              <a:rPr sz="1350" b="1">
                <a:solidFill>
                  <a:srgbClr val="111111"/>
                </a:solidFill>
              </a:rPr>
              <a:t>reasoning</a:t>
            </a:r>
          </a:p>
        </p:txBody>
      </p:sp>
      <p:sp>
        <p:nvSpPr>
          <p:cNvPr id="9" name="Trusted sources&#10;Policies&#10;Documents&#10;CRM tables">
            <a:extLst xmlns:a="http://schemas.openxmlformats.org/drawingml/2006/main">
              <a:ext uri="{FF2B5EF4-FFF2-40B4-BE49-F238E27FC236}">
                <a16:creationId xmlns:a16="http://schemas.microsoft.com/office/drawing/2014/main" id="{A10B87FC-DF62-4D84-A3F0-18CFD97A19F2}"/>
              </a:ext>
            </a:extLst>
          </p:cNvPr>
          <p:cNvSpPr>
            <a:spLocks xmlns:a="http://schemas.openxmlformats.org/drawingml/2006/main" noGrp="1"/>
          </p:cNvSpPr>
          <p:nvPr/>
        </p:nvSpPr>
        <p:spPr>
          <a:xfrm xmlns:a="http://schemas.openxmlformats.org/drawingml/2006/main">
            <a:off x="8915400" y="2381250"/>
            <a:ext cx="2190750" cy="2000250"/>
          </a:xfrm>
          <a:prstGeom xmlns:a="http://schemas.openxmlformats.org/drawingml/2006/main" prst="roundRect">
            <a:avLst>
              <a:gd name="adj" fmla="val 3810"/>
            </a:avLst>
          </a:prstGeom>
          <a:solidFill xmlns:a="http://schemas.openxmlformats.org/drawingml/2006/main">
            <a:srgbClr val="F6F6F6"/>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defRPr>
            </a:pPr>
            <a:r>
              <a:rPr sz="1350" b="1">
                <a:solidFill>
                  <a:srgbClr val="111111"/>
                </a:solidFill>
              </a:rPr>
              <a:t>Trusted sources</a:t>
            </a:r>
          </a:p>
          <a:p xmlns:a="http://schemas.openxmlformats.org/drawingml/2006/main">
            <a:pPr algn="ctr">
              <a:defRPr sz="1350" b="1">
                <a:solidFill>
                  <a:srgbClr val="111111"/>
                </a:solidFill>
              </a:defRPr>
            </a:pPr>
            <a:r>
              <a:rPr sz="1350" b="1">
                <a:solidFill>
                  <a:srgbClr val="111111"/>
                </a:solidFill>
              </a:rPr>
              <a:t>Policies</a:t>
            </a:r>
          </a:p>
          <a:p xmlns:a="http://schemas.openxmlformats.org/drawingml/2006/main">
            <a:pPr algn="ctr">
              <a:defRPr sz="1350" b="1">
                <a:solidFill>
                  <a:srgbClr val="111111"/>
                </a:solidFill>
              </a:defRPr>
            </a:pPr>
            <a:r>
              <a:rPr sz="1350" b="1">
                <a:solidFill>
                  <a:srgbClr val="111111"/>
                </a:solidFill>
              </a:rPr>
              <a:t>Documents</a:t>
            </a:r>
          </a:p>
          <a:p xmlns:a="http://schemas.openxmlformats.org/drawingml/2006/main">
            <a:pPr algn="ctr">
              <a:defRPr sz="1350" b="1">
                <a:solidFill>
                  <a:srgbClr val="111111"/>
                </a:solidFill>
              </a:defRPr>
            </a:pPr>
            <a:r>
              <a:rPr sz="1350" b="1">
                <a:solidFill>
                  <a:srgbClr val="111111"/>
                </a:solidFill>
              </a:rPr>
              <a:t>CRM tables</a:t>
            </a:r>
          </a:p>
        </p:txBody>
      </p:sp>
      <p:sp>
        <p:nvSpPr>
          <p:cNvPr id="10" name="">
            <a:extLst xmlns:a="http://schemas.openxmlformats.org/drawingml/2006/main">
              <a:ext uri="{FF2B5EF4-FFF2-40B4-BE49-F238E27FC236}">
                <a16:creationId xmlns:a16="http://schemas.microsoft.com/office/drawing/2014/main" id="{6C7498E5-13D2-42AA-AFF6-D9719B3606E9}"/>
              </a:ext>
            </a:extLst>
          </p:cNvPr>
          <p:cNvSpPr>
            <a:spLocks xmlns:a="http://schemas.openxmlformats.org/drawingml/2006/main" noGrp="1"/>
          </p:cNvSpPr>
          <p:nvPr/>
        </p:nvSpPr>
        <p:spPr>
          <a:xfrm xmlns:a="http://schemas.openxmlformats.org/drawingml/2006/main">
            <a:off x="2609850" y="3381375"/>
            <a:ext cx="60960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1" name="">
            <a:extLst xmlns:a="http://schemas.openxmlformats.org/drawingml/2006/main">
              <a:ext uri="{FF2B5EF4-FFF2-40B4-BE49-F238E27FC236}">
                <a16:creationId xmlns:a16="http://schemas.microsoft.com/office/drawing/2014/main" id="{2ABAADFE-9418-4AF6-AC31-BBCF0358D0CE}"/>
              </a:ext>
            </a:extLst>
          </p:cNvPr>
          <p:cNvSpPr>
            <a:spLocks xmlns:a="http://schemas.openxmlformats.org/drawingml/2006/main" noGrp="1"/>
          </p:cNvSpPr>
          <p:nvPr/>
        </p:nvSpPr>
        <p:spPr>
          <a:xfrm xmlns:a="http://schemas.openxmlformats.org/drawingml/2006/main">
            <a:off x="5219700" y="3381375"/>
            <a:ext cx="76200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2" name="">
            <a:extLst xmlns:a="http://schemas.openxmlformats.org/drawingml/2006/main">
              <a:ext uri="{FF2B5EF4-FFF2-40B4-BE49-F238E27FC236}">
                <a16:creationId xmlns:a16="http://schemas.microsoft.com/office/drawing/2014/main" id="{0295399B-6F83-455C-A7C0-CFCED0103BA9}"/>
              </a:ext>
            </a:extLst>
          </p:cNvPr>
          <p:cNvSpPr>
            <a:spLocks xmlns:a="http://schemas.openxmlformats.org/drawingml/2006/main" noGrp="1"/>
          </p:cNvSpPr>
          <p:nvPr/>
        </p:nvSpPr>
        <p:spPr>
          <a:xfrm xmlns:a="http://schemas.openxmlformats.org/drawingml/2006/main">
            <a:off x="8077200" y="3381375"/>
            <a:ext cx="83820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3" name="">
            <a:extLst xmlns:a="http://schemas.openxmlformats.org/drawingml/2006/main">
              <a:ext uri="{FF2B5EF4-FFF2-40B4-BE49-F238E27FC236}">
                <a16:creationId xmlns:a16="http://schemas.microsoft.com/office/drawing/2014/main" id="{86C849FB-663C-4C6F-950A-9CAB51DFDBFB}"/>
              </a:ext>
            </a:extLst>
          </p:cNvPr>
          <p:cNvSpPr>
            <a:spLocks xmlns:a="http://schemas.openxmlformats.org/drawingml/2006/main" noGrp="1"/>
          </p:cNvSpPr>
          <p:nvPr/>
        </p:nvSpPr>
        <p:spPr>
          <a:xfrm xmlns:a="http://schemas.openxmlformats.org/drawingml/2006/main">
            <a:off x="1009650" y="4953000"/>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a:solidFill>
                  <a:srgbClr val="555555"/>
                </a:solidFill>
              </a:defRPr>
            </a:pPr>
            <a:r>
              <a:rPr sz="1650" b="0">
                <a:solidFill>
                  <a:srgbClr val="555555"/>
                </a:solidFill>
              </a:rPr>
              <a:t>The user sees a simple answer. The system decides whether it needs operational data, document evidence, policy retrieval, catalog metadata, or safety review.</a:t>
            </a:r>
          </a:p>
        </p:txBody>
      </p:sp>
    </p:spTree>
    <p:extLst>
      <p:ext uri="{BB962C8B-B14F-4D97-AF65-F5344CB8AC3E}">
        <p14:creationId xmlns:p14="http://schemas.microsoft.com/office/powerpoint/2010/main" val="11156647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4FED27-4B74-4CA6-B002-2840B8271663}"/>
              </a:ext>
            </a:extLst>
          </p:cNvPr>
          <p:cNvSpPr>
            <a:spLocks xmlns:a="http://schemas.openxmlformats.org/drawingml/2006/main" noGrp="1"/>
          </p:cNvSpPr>
          <p:nvPr/>
        </p:nvSpPr>
        <p:spPr>
          <a:xfrm xmlns:a="http://schemas.openxmlformats.org/drawingml/2006/main">
            <a:off x="400050" y="304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55555"/>
                </a:solidFill>
              </a:defRPr>
            </a:pPr>
            <a:r>
              <a:rPr sz="1050" b="1">
                <a:solidFill>
                  <a:srgbClr val="555555"/>
                </a:solidFill>
              </a:rPr>
              <a:t>DEPLOYMENT ARCHITECTURE</a:t>
            </a:r>
          </a:p>
        </p:txBody>
      </p:sp>
      <p:sp>
        <p:nvSpPr>
          <p:cNvPr id="2" name="">
            <a:extLst xmlns:a="http://schemas.openxmlformats.org/drawingml/2006/main">
              <a:ext uri="{FF2B5EF4-FFF2-40B4-BE49-F238E27FC236}">
                <a16:creationId xmlns:a16="http://schemas.microsoft.com/office/drawing/2014/main" id="{9CA118A5-40C1-4B3A-B41F-F3BA3F3CAB2F}"/>
              </a:ext>
            </a:extLst>
          </p:cNvPr>
          <p:cNvSpPr>
            <a:spLocks xmlns:a="http://schemas.openxmlformats.org/drawingml/2006/main" noGrp="1"/>
          </p:cNvSpPr>
          <p:nvPr/>
        </p:nvSpPr>
        <p:spPr>
          <a:xfrm xmlns:a="http://schemas.openxmlformats.org/drawingml/2006/main">
            <a:off x="400050" y="628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11111"/>
                </a:solidFill>
              </a:defRPr>
            </a:pPr>
            <a:r>
              <a:rPr sz="2925" b="1">
                <a:solidFill>
                  <a:srgbClr val="111111"/>
                </a:solidFill>
              </a:rPr>
              <a:t>AWS separates the healthcare app from shared tool execution</a:t>
            </a:r>
          </a:p>
        </p:txBody>
      </p:sp>
      <p:sp>
        <p:nvSpPr>
          <p:cNvPr id="3" name="">
            <a:extLst xmlns:a="http://schemas.openxmlformats.org/drawingml/2006/main">
              <a:ext uri="{FF2B5EF4-FFF2-40B4-BE49-F238E27FC236}">
                <a16:creationId xmlns:a16="http://schemas.microsoft.com/office/drawing/2014/main" id="{14E935B5-3E35-4DA9-A167-2C088E39E2D8}"/>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96931705-D50F-4713-92A4-403B5F54627B}"/>
              </a:ext>
            </a:extLst>
          </p:cNvPr>
          <p:cNvSpPr>
            <a:spLocks xmlns:a="http://schemas.openxmlformats.org/drawingml/2006/main" noGrp="1"/>
          </p:cNvSpPr>
          <p:nvPr/>
        </p:nvSpPr>
        <p:spPr>
          <a:xfrm xmlns:a="http://schemas.openxmlformats.org/drawingml/2006/main">
            <a:off x="400050" y="6381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dstrmaysam healthcare knowledge multi-agent</a:t>
            </a:r>
          </a:p>
        </p:txBody>
      </p:sp>
      <p:sp>
        <p:nvSpPr>
          <p:cNvPr id="5" name="">
            <a:extLst xmlns:a="http://schemas.openxmlformats.org/drawingml/2006/main">
              <a:ext uri="{FF2B5EF4-FFF2-40B4-BE49-F238E27FC236}">
                <a16:creationId xmlns:a16="http://schemas.microsoft.com/office/drawing/2014/main" id="{E24ABFE3-37C5-4A61-A133-FFBA46D42A57}"/>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defRPr>
            </a:pPr>
            <a:r>
              <a:rPr sz="975" b="0">
                <a:solidFill>
                  <a:srgbClr val="555555"/>
                </a:solidFill>
              </a:rPr>
              <a:t>04</a:t>
            </a:r>
          </a:p>
        </p:txBody>
      </p:sp>
      <p:sp>
        <p:nvSpPr>
          <p:cNvPr id="6" name="Users + Twilio">
            <a:extLst xmlns:a="http://schemas.openxmlformats.org/drawingml/2006/main">
              <a:ext uri="{FF2B5EF4-FFF2-40B4-BE49-F238E27FC236}">
                <a16:creationId xmlns:a16="http://schemas.microsoft.com/office/drawing/2014/main" id="{19435384-E036-4B13-B36E-24D27904972B}"/>
              </a:ext>
            </a:extLst>
          </p:cNvPr>
          <p:cNvSpPr>
            <a:spLocks xmlns:a="http://schemas.openxmlformats.org/drawingml/2006/main" noGrp="1"/>
          </p:cNvSpPr>
          <p:nvPr/>
        </p:nvSpPr>
        <p:spPr>
          <a:xfrm xmlns:a="http://schemas.openxmlformats.org/drawingml/2006/main">
            <a:off x="400050" y="2238375"/>
            <a:ext cx="1428750" cy="666750"/>
          </a:xfrm>
          <a:prstGeom xmlns:a="http://schemas.openxmlformats.org/drawingml/2006/main" prst="roundRect">
            <a:avLst>
              <a:gd name="adj" fmla="val 11429"/>
            </a:avLst>
          </a:prstGeom>
          <a:solidFill xmlns:a="http://schemas.openxmlformats.org/drawingml/2006/main">
            <a:srgbClr val="FFF7ED"/>
          </a:solidFill>
          <a:ln xmlns:a="http://schemas.openxmlformats.org/drawingml/2006/main" w="9525">
            <a:solidFill>
              <a:srgbClr val="FF6B35"/>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Users + Twilio</a:t>
            </a:r>
          </a:p>
        </p:txBody>
      </p:sp>
      <p:sp>
        <p:nvSpPr>
          <p:cNvPr id="7" name="Healthcare public ALB">
            <a:extLst xmlns:a="http://schemas.openxmlformats.org/drawingml/2006/main">
              <a:ext uri="{FF2B5EF4-FFF2-40B4-BE49-F238E27FC236}">
                <a16:creationId xmlns:a16="http://schemas.microsoft.com/office/drawing/2014/main" id="{FA3E60CB-0BF9-4041-B9B4-AA56B6B9751B}"/>
              </a:ext>
            </a:extLst>
          </p:cNvPr>
          <p:cNvSpPr>
            <a:spLocks xmlns:a="http://schemas.openxmlformats.org/drawingml/2006/main" noGrp="1"/>
          </p:cNvSpPr>
          <p:nvPr/>
        </p:nvSpPr>
        <p:spPr>
          <a:xfrm xmlns:a="http://schemas.openxmlformats.org/drawingml/2006/main">
            <a:off x="2381250" y="2095500"/>
            <a:ext cx="200025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defRPr>
            </a:pPr>
            <a:r>
              <a:rPr sz="1350" b="1">
                <a:solidFill>
                  <a:srgbClr val="111111"/>
                </a:solidFill>
              </a:rPr>
              <a:t>Healthcare public ALB</a:t>
            </a:r>
          </a:p>
        </p:txBody>
      </p:sp>
      <p:sp>
        <p:nvSpPr>
          <p:cNvPr id="8" name="ECS services&#10;Frontend + backend">
            <a:extLst xmlns:a="http://schemas.openxmlformats.org/drawingml/2006/main">
              <a:ext uri="{FF2B5EF4-FFF2-40B4-BE49-F238E27FC236}">
                <a16:creationId xmlns:a16="http://schemas.microsoft.com/office/drawing/2014/main" id="{E4080F6F-5F23-42D6-A992-2402187D04B5}"/>
              </a:ext>
            </a:extLst>
          </p:cNvPr>
          <p:cNvSpPr>
            <a:spLocks xmlns:a="http://schemas.openxmlformats.org/drawingml/2006/main" noGrp="1"/>
          </p:cNvSpPr>
          <p:nvPr/>
        </p:nvSpPr>
        <p:spPr>
          <a:xfrm xmlns:a="http://schemas.openxmlformats.org/drawingml/2006/main">
            <a:off x="5048250" y="2000250"/>
            <a:ext cx="2095500" cy="1143000"/>
          </a:xfrm>
          <a:prstGeom xmlns:a="http://schemas.openxmlformats.org/drawingml/2006/main" prst="roundRect">
            <a:avLst>
              <a:gd name="adj" fmla="val 6667"/>
            </a:avLst>
          </a:prstGeom>
          <a:solidFill xmlns:a="http://schemas.openxmlformats.org/drawingml/2006/main">
            <a:srgbClr val="F0FDFA"/>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defRPr>
            </a:pPr>
            <a:r>
              <a:rPr sz="1350" b="1">
                <a:solidFill>
                  <a:srgbClr val="111111"/>
                </a:solidFill>
              </a:rPr>
              <a:t>ECS services</a:t>
            </a:r>
          </a:p>
          <a:p xmlns:a="http://schemas.openxmlformats.org/drawingml/2006/main">
            <a:pPr algn="ctr">
              <a:defRPr sz="1350" b="1">
                <a:solidFill>
                  <a:srgbClr val="111111"/>
                </a:solidFill>
              </a:defRPr>
            </a:pPr>
            <a:r>
              <a:rPr sz="1350" b="1">
                <a:solidFill>
                  <a:srgbClr val="111111"/>
                </a:solidFill>
              </a:rPr>
              <a:t>Frontend + backend</a:t>
            </a:r>
          </a:p>
        </p:txBody>
      </p:sp>
      <p:sp>
        <p:nvSpPr>
          <p:cNvPr id="9" name="RDS Postgres">
            <a:extLst xmlns:a="http://schemas.openxmlformats.org/drawingml/2006/main">
              <a:ext uri="{FF2B5EF4-FFF2-40B4-BE49-F238E27FC236}">
                <a16:creationId xmlns:a16="http://schemas.microsoft.com/office/drawing/2014/main" id="{C23CAB64-DA23-41B8-ADDC-CCCAD1CB7822}"/>
              </a:ext>
            </a:extLst>
          </p:cNvPr>
          <p:cNvSpPr>
            <a:spLocks xmlns:a="http://schemas.openxmlformats.org/drawingml/2006/main" noGrp="1"/>
          </p:cNvSpPr>
          <p:nvPr/>
        </p:nvSpPr>
        <p:spPr>
          <a:xfrm xmlns:a="http://schemas.openxmlformats.org/drawingml/2006/main">
            <a:off x="8001000" y="1143000"/>
            <a:ext cx="1619250" cy="666750"/>
          </a:xfrm>
          <a:prstGeom xmlns:a="http://schemas.openxmlformats.org/drawingml/2006/main" prst="roundRect">
            <a:avLst>
              <a:gd name="adj" fmla="val 11429"/>
            </a:avLst>
          </a:prstGeom>
          <a:solidFill xmlns:a="http://schemas.openxmlformats.org/drawingml/2006/main">
            <a:srgbClr val="F6F6F6"/>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RDS Postgres</a:t>
            </a:r>
          </a:p>
        </p:txBody>
      </p:sp>
      <p:sp>
        <p:nvSpPr>
          <p:cNvPr id="10" name="S3 documents">
            <a:extLst xmlns:a="http://schemas.openxmlformats.org/drawingml/2006/main">
              <a:ext uri="{FF2B5EF4-FFF2-40B4-BE49-F238E27FC236}">
                <a16:creationId xmlns:a16="http://schemas.microsoft.com/office/drawing/2014/main" id="{6F5067DC-1F64-447C-A82D-2D68932FA652}"/>
              </a:ext>
            </a:extLst>
          </p:cNvPr>
          <p:cNvSpPr>
            <a:spLocks xmlns:a="http://schemas.openxmlformats.org/drawingml/2006/main" noGrp="1"/>
          </p:cNvSpPr>
          <p:nvPr/>
        </p:nvSpPr>
        <p:spPr>
          <a:xfrm xmlns:a="http://schemas.openxmlformats.org/drawingml/2006/main">
            <a:off x="8001000" y="2143125"/>
            <a:ext cx="1619250" cy="666750"/>
          </a:xfrm>
          <a:prstGeom xmlns:a="http://schemas.openxmlformats.org/drawingml/2006/main" prst="roundRect">
            <a:avLst>
              <a:gd name="adj" fmla="val 11429"/>
            </a:avLst>
          </a:prstGeom>
          <a:solidFill xmlns:a="http://schemas.openxmlformats.org/drawingml/2006/main">
            <a:srgbClr val="F6F6F6"/>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S3 documents</a:t>
            </a:r>
          </a:p>
        </p:txBody>
      </p:sp>
      <p:sp>
        <p:nvSpPr>
          <p:cNvPr id="11" name="OpenSearch&#10;Serverless">
            <a:extLst xmlns:a="http://schemas.openxmlformats.org/drawingml/2006/main">
              <a:ext uri="{FF2B5EF4-FFF2-40B4-BE49-F238E27FC236}">
                <a16:creationId xmlns:a16="http://schemas.microsoft.com/office/drawing/2014/main" id="{E5DC3450-2403-49FC-8256-7FBCF3D92FE9}"/>
              </a:ext>
            </a:extLst>
          </p:cNvPr>
          <p:cNvSpPr>
            <a:spLocks xmlns:a="http://schemas.openxmlformats.org/drawingml/2006/main" noGrp="1"/>
          </p:cNvSpPr>
          <p:nvPr/>
        </p:nvSpPr>
        <p:spPr>
          <a:xfrm xmlns:a="http://schemas.openxmlformats.org/drawingml/2006/main">
            <a:off x="8001000" y="3143250"/>
            <a:ext cx="1619250" cy="666750"/>
          </a:xfrm>
          <a:prstGeom xmlns:a="http://schemas.openxmlformats.org/drawingml/2006/main" prst="roundRect">
            <a:avLst>
              <a:gd name="adj" fmla="val 11429"/>
            </a:avLst>
          </a:prstGeom>
          <a:solidFill xmlns:a="http://schemas.openxmlformats.org/drawingml/2006/main">
            <a:srgbClr val="F6F6F6"/>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OpenSearch</a:t>
            </a:r>
          </a:p>
          <a:p xmlns:a="http://schemas.openxmlformats.org/drawingml/2006/main">
            <a:pPr algn="ctr">
              <a:defRPr sz="1275" b="1">
                <a:solidFill>
                  <a:srgbClr val="111111"/>
                </a:solidFill>
              </a:defRPr>
            </a:pPr>
            <a:r>
              <a:rPr sz="1275" b="1">
                <a:solidFill>
                  <a:srgbClr val="111111"/>
                </a:solidFill>
              </a:rPr>
              <a:t>Serverless</a:t>
            </a:r>
          </a:p>
        </p:txBody>
      </p:sp>
      <p:sp>
        <p:nvSpPr>
          <p:cNvPr id="12" name="Secrets&#10;Manager">
            <a:extLst xmlns:a="http://schemas.openxmlformats.org/drawingml/2006/main">
              <a:ext uri="{FF2B5EF4-FFF2-40B4-BE49-F238E27FC236}">
                <a16:creationId xmlns:a16="http://schemas.microsoft.com/office/drawing/2014/main" id="{9E34A0C7-40B6-4B64-8E9E-495B055FCD11}"/>
              </a:ext>
            </a:extLst>
          </p:cNvPr>
          <p:cNvSpPr>
            <a:spLocks xmlns:a="http://schemas.openxmlformats.org/drawingml/2006/main" noGrp="1"/>
          </p:cNvSpPr>
          <p:nvPr/>
        </p:nvSpPr>
        <p:spPr>
          <a:xfrm xmlns:a="http://schemas.openxmlformats.org/drawingml/2006/main">
            <a:off x="8001000" y="4143375"/>
            <a:ext cx="1619250" cy="666750"/>
          </a:xfrm>
          <a:prstGeom xmlns:a="http://schemas.openxmlformats.org/drawingml/2006/main" prst="roundRect">
            <a:avLst>
              <a:gd name="adj" fmla="val 11429"/>
            </a:avLst>
          </a:prstGeom>
          <a:solidFill xmlns:a="http://schemas.openxmlformats.org/drawingml/2006/main">
            <a:srgbClr val="F6F6F6"/>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Secrets</a:t>
            </a:r>
          </a:p>
          <a:p xmlns:a="http://schemas.openxmlformats.org/drawingml/2006/main">
            <a:pPr algn="ctr">
              <a:defRPr sz="1275" b="1">
                <a:solidFill>
                  <a:srgbClr val="111111"/>
                </a:solidFill>
              </a:defRPr>
            </a:pPr>
            <a:r>
              <a:rPr sz="1275" b="1">
                <a:solidFill>
                  <a:srgbClr val="111111"/>
                </a:solidFill>
              </a:rPr>
              <a:t>Manager</a:t>
            </a:r>
          </a:p>
        </p:txBody>
      </p:sp>
      <p:sp>
        <p:nvSpPr>
          <p:cNvPr id="13" name="Shared MCP stack&#10;ECS + internal ALB">
            <a:extLst xmlns:a="http://schemas.openxmlformats.org/drawingml/2006/main">
              <a:ext uri="{FF2B5EF4-FFF2-40B4-BE49-F238E27FC236}">
                <a16:creationId xmlns:a16="http://schemas.microsoft.com/office/drawing/2014/main" id="{CB331B7E-AA67-4BD0-86E8-2F2215A6B970}"/>
              </a:ext>
            </a:extLst>
          </p:cNvPr>
          <p:cNvSpPr>
            <a:spLocks xmlns:a="http://schemas.openxmlformats.org/drawingml/2006/main" noGrp="1"/>
          </p:cNvSpPr>
          <p:nvPr/>
        </p:nvSpPr>
        <p:spPr>
          <a:xfrm xmlns:a="http://schemas.openxmlformats.org/drawingml/2006/main">
            <a:off x="2286000" y="4762500"/>
            <a:ext cx="2476500" cy="857250"/>
          </a:xfrm>
          <a:prstGeom xmlns:a="http://schemas.openxmlformats.org/drawingml/2006/main" prst="roundRect">
            <a:avLst>
              <a:gd name="adj" fmla="val 8889"/>
            </a:avLst>
          </a:prstGeom>
          <a:solidFill xmlns:a="http://schemas.openxmlformats.org/drawingml/2006/main">
            <a:srgbClr val="F6F6F6"/>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defRPr>
            </a:pPr>
            <a:r>
              <a:rPr sz="1350" b="1">
                <a:solidFill>
                  <a:srgbClr val="111111"/>
                </a:solidFill>
              </a:rPr>
              <a:t>Shared MCP stack</a:t>
            </a:r>
          </a:p>
          <a:p xmlns:a="http://schemas.openxmlformats.org/drawingml/2006/main">
            <a:pPr algn="ctr">
              <a:defRPr sz="1350" b="1">
                <a:solidFill>
                  <a:srgbClr val="111111"/>
                </a:solidFill>
              </a:defRPr>
            </a:pPr>
            <a:r>
              <a:rPr sz="1350" b="1">
                <a:solidFill>
                  <a:srgbClr val="111111"/>
                </a:solidFill>
              </a:rPr>
              <a:t>ECS + internal ALB</a:t>
            </a:r>
          </a:p>
        </p:txBody>
      </p:sp>
      <p:sp>
        <p:nvSpPr>
          <p:cNvPr id="14" name="Transit Gateway&#10;private VPC route">
            <a:extLst xmlns:a="http://schemas.openxmlformats.org/drawingml/2006/main">
              <a:ext uri="{FF2B5EF4-FFF2-40B4-BE49-F238E27FC236}">
                <a16:creationId xmlns:a16="http://schemas.microsoft.com/office/drawing/2014/main" id="{3AA7D54B-88A3-444F-A123-801B7475A20B}"/>
              </a:ext>
            </a:extLst>
          </p:cNvPr>
          <p:cNvSpPr>
            <a:spLocks xmlns:a="http://schemas.openxmlformats.org/drawingml/2006/main" noGrp="1"/>
          </p:cNvSpPr>
          <p:nvPr/>
        </p:nvSpPr>
        <p:spPr>
          <a:xfrm xmlns:a="http://schemas.openxmlformats.org/drawingml/2006/main">
            <a:off x="5381625" y="4810125"/>
            <a:ext cx="2095500"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Transit Gateway</a:t>
            </a:r>
          </a:p>
          <a:p xmlns:a="http://schemas.openxmlformats.org/drawingml/2006/main">
            <a:pPr algn="ctr">
              <a:defRPr sz="1275" b="1">
                <a:solidFill>
                  <a:srgbClr val="111111"/>
                </a:solidFill>
              </a:defRPr>
            </a:pPr>
            <a:r>
              <a:rPr sz="1275" b="1">
                <a:solidFill>
                  <a:srgbClr val="111111"/>
                </a:solidFill>
              </a:rPr>
              <a:t>private VPC route</a:t>
            </a:r>
          </a:p>
        </p:txBody>
      </p:sp>
      <p:sp>
        <p:nvSpPr>
          <p:cNvPr id="15" name="CodePipeline&#10;builds and deploys">
            <a:extLst xmlns:a="http://schemas.openxmlformats.org/drawingml/2006/main">
              <a:ext uri="{FF2B5EF4-FFF2-40B4-BE49-F238E27FC236}">
                <a16:creationId xmlns:a16="http://schemas.microsoft.com/office/drawing/2014/main" id="{26E645A4-77BE-46E2-98FA-2981D2BE6051}"/>
              </a:ext>
            </a:extLst>
          </p:cNvPr>
          <p:cNvSpPr>
            <a:spLocks xmlns:a="http://schemas.openxmlformats.org/drawingml/2006/main" noGrp="1"/>
          </p:cNvSpPr>
          <p:nvPr/>
        </p:nvSpPr>
        <p:spPr>
          <a:xfrm xmlns:a="http://schemas.openxmlformats.org/drawingml/2006/main">
            <a:off x="9906000" y="2381250"/>
            <a:ext cx="1524000" cy="1047750"/>
          </a:xfrm>
          <a:prstGeom xmlns:a="http://schemas.openxmlformats.org/drawingml/2006/main" prst="roundRect">
            <a:avLst>
              <a:gd name="adj" fmla="val 7273"/>
            </a:avLst>
          </a:prstGeom>
          <a:solidFill xmlns:a="http://schemas.openxmlformats.org/drawingml/2006/main">
            <a:srgbClr val="FFF7ED"/>
          </a:solidFill>
          <a:ln xmlns:a="http://schemas.openxmlformats.org/drawingml/2006/main" w="9525">
            <a:solidFill>
              <a:srgbClr val="FF6B35"/>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CodePipeline</a:t>
            </a:r>
          </a:p>
          <a:p xmlns:a="http://schemas.openxmlformats.org/drawingml/2006/main">
            <a:pPr algn="ctr">
              <a:defRPr sz="1275" b="1">
                <a:solidFill>
                  <a:srgbClr val="111111"/>
                </a:solidFill>
              </a:defRPr>
            </a:pPr>
            <a:r>
              <a:rPr sz="1275" b="1">
                <a:solidFill>
                  <a:srgbClr val="111111"/>
                </a:solidFill>
              </a:rPr>
              <a:t>builds and deploys</a:t>
            </a:r>
          </a:p>
        </p:txBody>
      </p:sp>
      <p:sp>
        <p:nvSpPr>
          <p:cNvPr id="16" name="">
            <a:extLst xmlns:a="http://schemas.openxmlformats.org/drawingml/2006/main">
              <a:ext uri="{FF2B5EF4-FFF2-40B4-BE49-F238E27FC236}">
                <a16:creationId xmlns:a16="http://schemas.microsoft.com/office/drawing/2014/main" id="{1C2F92D4-DDDE-42AC-82AB-68174EF6CFD8}"/>
              </a:ext>
            </a:extLst>
          </p:cNvPr>
          <p:cNvSpPr>
            <a:spLocks xmlns:a="http://schemas.openxmlformats.org/drawingml/2006/main" noGrp="1"/>
          </p:cNvSpPr>
          <p:nvPr/>
        </p:nvSpPr>
        <p:spPr>
          <a:xfrm xmlns:a="http://schemas.openxmlformats.org/drawingml/2006/main">
            <a:off x="1828800" y="2571750"/>
            <a:ext cx="55245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7" name="">
            <a:extLst xmlns:a="http://schemas.openxmlformats.org/drawingml/2006/main">
              <a:ext uri="{FF2B5EF4-FFF2-40B4-BE49-F238E27FC236}">
                <a16:creationId xmlns:a16="http://schemas.microsoft.com/office/drawing/2014/main" id="{C0ABDDC5-AA0C-4EEE-B6B9-2E61E9A22607}"/>
              </a:ext>
            </a:extLst>
          </p:cNvPr>
          <p:cNvSpPr>
            <a:spLocks xmlns:a="http://schemas.openxmlformats.org/drawingml/2006/main" noGrp="1"/>
          </p:cNvSpPr>
          <p:nvPr/>
        </p:nvSpPr>
        <p:spPr>
          <a:xfrm xmlns:a="http://schemas.openxmlformats.org/drawingml/2006/main">
            <a:off x="4381500" y="2571750"/>
            <a:ext cx="66675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8" name="">
            <a:extLst xmlns:a="http://schemas.openxmlformats.org/drawingml/2006/main">
              <a:ext uri="{FF2B5EF4-FFF2-40B4-BE49-F238E27FC236}">
                <a16:creationId xmlns:a16="http://schemas.microsoft.com/office/drawing/2014/main" id="{4647A7EE-204D-4772-9265-49D6417B83FD}"/>
              </a:ext>
            </a:extLst>
          </p:cNvPr>
          <p:cNvSpPr>
            <a:spLocks xmlns:a="http://schemas.openxmlformats.org/drawingml/2006/main" noGrp="1"/>
          </p:cNvSpPr>
          <p:nvPr/>
        </p:nvSpPr>
        <p:spPr>
          <a:xfrm xmlns:a="http://schemas.openxmlformats.org/drawingml/2006/main">
            <a:off x="7143750" y="2476500"/>
            <a:ext cx="857250" cy="-1000125"/>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9" name="">
            <a:extLst xmlns:a="http://schemas.openxmlformats.org/drawingml/2006/main">
              <a:ext uri="{FF2B5EF4-FFF2-40B4-BE49-F238E27FC236}">
                <a16:creationId xmlns:a16="http://schemas.microsoft.com/office/drawing/2014/main" id="{96D9355C-6D6B-479F-8A70-2C6C160FD0BB}"/>
              </a:ext>
            </a:extLst>
          </p:cNvPr>
          <p:cNvSpPr>
            <a:spLocks xmlns:a="http://schemas.openxmlformats.org/drawingml/2006/main" noGrp="1"/>
          </p:cNvSpPr>
          <p:nvPr/>
        </p:nvSpPr>
        <p:spPr>
          <a:xfrm xmlns:a="http://schemas.openxmlformats.org/drawingml/2006/main">
            <a:off x="7143750" y="2571750"/>
            <a:ext cx="857250" cy="-9525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20" name="">
            <a:extLst xmlns:a="http://schemas.openxmlformats.org/drawingml/2006/main">
              <a:ext uri="{FF2B5EF4-FFF2-40B4-BE49-F238E27FC236}">
                <a16:creationId xmlns:a16="http://schemas.microsoft.com/office/drawing/2014/main" id="{5177CD13-33BF-45E5-B120-C980F8F71622}"/>
              </a:ext>
            </a:extLst>
          </p:cNvPr>
          <p:cNvSpPr>
            <a:spLocks xmlns:a="http://schemas.openxmlformats.org/drawingml/2006/main" noGrp="1"/>
          </p:cNvSpPr>
          <p:nvPr/>
        </p:nvSpPr>
        <p:spPr>
          <a:xfrm xmlns:a="http://schemas.openxmlformats.org/drawingml/2006/main">
            <a:off x="7143750" y="2667000"/>
            <a:ext cx="857250" cy="809625"/>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21" name="">
            <a:extLst xmlns:a="http://schemas.openxmlformats.org/drawingml/2006/main">
              <a:ext uri="{FF2B5EF4-FFF2-40B4-BE49-F238E27FC236}">
                <a16:creationId xmlns:a16="http://schemas.microsoft.com/office/drawing/2014/main" id="{B08A496E-F5EC-4708-BF3F-BDA8BC0BAC4B}"/>
              </a:ext>
            </a:extLst>
          </p:cNvPr>
          <p:cNvSpPr>
            <a:spLocks xmlns:a="http://schemas.openxmlformats.org/drawingml/2006/main" noGrp="1"/>
          </p:cNvSpPr>
          <p:nvPr/>
        </p:nvSpPr>
        <p:spPr>
          <a:xfrm xmlns:a="http://schemas.openxmlformats.org/drawingml/2006/main">
            <a:off x="7143750" y="2762250"/>
            <a:ext cx="857250" cy="171450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22" name="">
            <a:extLst xmlns:a="http://schemas.openxmlformats.org/drawingml/2006/main">
              <a:ext uri="{FF2B5EF4-FFF2-40B4-BE49-F238E27FC236}">
                <a16:creationId xmlns:a16="http://schemas.microsoft.com/office/drawing/2014/main" id="{7347CAAC-2069-4CF5-8CE5-17BA434E42D2}"/>
              </a:ext>
            </a:extLst>
          </p:cNvPr>
          <p:cNvSpPr>
            <a:spLocks xmlns:a="http://schemas.openxmlformats.org/drawingml/2006/main" noGrp="1"/>
          </p:cNvSpPr>
          <p:nvPr/>
        </p:nvSpPr>
        <p:spPr>
          <a:xfrm xmlns:a="http://schemas.openxmlformats.org/drawingml/2006/main">
            <a:off x="4762500" y="5191125"/>
            <a:ext cx="619125"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23" name="">
            <a:extLst xmlns:a="http://schemas.openxmlformats.org/drawingml/2006/main">
              <a:ext uri="{FF2B5EF4-FFF2-40B4-BE49-F238E27FC236}">
                <a16:creationId xmlns:a16="http://schemas.microsoft.com/office/drawing/2014/main" id="{854C2BE0-B0B8-4DD0-A0B2-63CB24A3D3B9}"/>
              </a:ext>
            </a:extLst>
          </p:cNvPr>
          <p:cNvSpPr>
            <a:spLocks xmlns:a="http://schemas.openxmlformats.org/drawingml/2006/main" noGrp="1"/>
          </p:cNvSpPr>
          <p:nvPr/>
        </p:nvSpPr>
        <p:spPr>
          <a:xfrm xmlns:a="http://schemas.openxmlformats.org/drawingml/2006/main">
            <a:off x="7477125" y="5191125"/>
            <a:ext cx="523875" cy="-371475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Tree>
    <p:extLst>
      <p:ext uri="{BB962C8B-B14F-4D97-AF65-F5344CB8AC3E}">
        <p14:creationId xmlns:p14="http://schemas.microsoft.com/office/powerpoint/2010/main" val="16695878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82A4EB-4080-4E97-B64B-8CA92B64BF25}"/>
              </a:ext>
            </a:extLst>
          </p:cNvPr>
          <p:cNvSpPr>
            <a:spLocks xmlns:a="http://schemas.openxmlformats.org/drawingml/2006/main" noGrp="1"/>
          </p:cNvSpPr>
          <p:nvPr/>
        </p:nvSpPr>
        <p:spPr>
          <a:xfrm xmlns:a="http://schemas.openxmlformats.org/drawingml/2006/main">
            <a:off x="400050" y="304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55555"/>
                </a:solidFill>
              </a:defRPr>
            </a:pPr>
            <a:r>
              <a:rPr sz="1050" b="1">
                <a:solidFill>
                  <a:srgbClr val="555555"/>
                </a:solidFill>
              </a:rPr>
              <a:t>SYSTEM OVERVIEW</a:t>
            </a:r>
          </a:p>
        </p:txBody>
      </p:sp>
      <p:sp>
        <p:nvSpPr>
          <p:cNvPr id="2" name="">
            <a:extLst xmlns:a="http://schemas.openxmlformats.org/drawingml/2006/main">
              <a:ext uri="{FF2B5EF4-FFF2-40B4-BE49-F238E27FC236}">
                <a16:creationId xmlns:a16="http://schemas.microsoft.com/office/drawing/2014/main" id="{1309BC70-C668-4F39-A443-994244A77C3C}"/>
              </a:ext>
            </a:extLst>
          </p:cNvPr>
          <p:cNvSpPr>
            <a:spLocks xmlns:a="http://schemas.openxmlformats.org/drawingml/2006/main" noGrp="1"/>
          </p:cNvSpPr>
          <p:nvPr/>
        </p:nvSpPr>
        <p:spPr>
          <a:xfrm xmlns:a="http://schemas.openxmlformats.org/drawingml/2006/main">
            <a:off x="400050" y="628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11111"/>
                </a:solidFill>
              </a:defRPr>
            </a:pPr>
            <a:r>
              <a:rPr sz="2925" b="1">
                <a:solidFill>
                  <a:srgbClr val="111111"/>
                </a:solidFill>
              </a:rPr>
              <a:t>The application combines chat, operations, documents, and assurance</a:t>
            </a:r>
          </a:p>
        </p:txBody>
      </p:sp>
      <p:sp>
        <p:nvSpPr>
          <p:cNvPr id="3" name="">
            <a:extLst xmlns:a="http://schemas.openxmlformats.org/drawingml/2006/main">
              <a:ext uri="{FF2B5EF4-FFF2-40B4-BE49-F238E27FC236}">
                <a16:creationId xmlns:a16="http://schemas.microsoft.com/office/drawing/2014/main" id="{599EA621-EC96-4F91-8E5C-DE22F45712E4}"/>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A59FE49B-80D0-4D96-9158-FA8E38AAF7CD}"/>
              </a:ext>
            </a:extLst>
          </p:cNvPr>
          <p:cNvSpPr>
            <a:spLocks xmlns:a="http://schemas.openxmlformats.org/drawingml/2006/main" noGrp="1"/>
          </p:cNvSpPr>
          <p:nvPr/>
        </p:nvSpPr>
        <p:spPr>
          <a:xfrm xmlns:a="http://schemas.openxmlformats.org/drawingml/2006/main">
            <a:off x="400050" y="6381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dstrmaysam healthcare knowledge multi-agent</a:t>
            </a:r>
          </a:p>
        </p:txBody>
      </p:sp>
      <p:sp>
        <p:nvSpPr>
          <p:cNvPr id="5" name="">
            <a:extLst xmlns:a="http://schemas.openxmlformats.org/drawingml/2006/main">
              <a:ext uri="{FF2B5EF4-FFF2-40B4-BE49-F238E27FC236}">
                <a16:creationId xmlns:a16="http://schemas.microsoft.com/office/drawing/2014/main" id="{F834BE36-C9E9-41C0-92C1-A3745DAA908D}"/>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defRPr>
            </a:pPr>
            <a:r>
              <a:rPr sz="975" b="0">
                <a:solidFill>
                  <a:srgbClr val="555555"/>
                </a:solidFill>
              </a:rPr>
              <a:t>05</a:t>
            </a:r>
          </a:p>
        </p:txBody>
      </p:sp>
      <p:sp>
        <p:nvSpPr>
          <p:cNvPr id="6" name="">
            <a:extLst xmlns:a="http://schemas.openxmlformats.org/drawingml/2006/main">
              <a:ext uri="{FF2B5EF4-FFF2-40B4-BE49-F238E27FC236}">
                <a16:creationId xmlns:a16="http://schemas.microsoft.com/office/drawing/2014/main" id="{C2713C8D-3190-432B-A3BF-0C353928931B}"/>
              </a:ext>
            </a:extLst>
          </p:cNvPr>
          <p:cNvSpPr>
            <a:spLocks xmlns:a="http://schemas.openxmlformats.org/drawingml/2006/main" noGrp="1"/>
          </p:cNvSpPr>
          <p:nvPr/>
        </p:nvSpPr>
        <p:spPr>
          <a:xfrm xmlns:a="http://schemas.openxmlformats.org/drawingml/2006/main">
            <a:off x="514350" y="2000250"/>
            <a:ext cx="2476500" cy="1619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F574658-8350-413F-A350-99161F663D9A}"/>
              </a:ext>
            </a:extLst>
          </p:cNvPr>
          <p:cNvSpPr>
            <a:spLocks xmlns:a="http://schemas.openxmlformats.org/drawingml/2006/main" noGrp="1"/>
          </p:cNvSpPr>
          <p:nvPr/>
        </p:nvSpPr>
        <p:spPr>
          <a:xfrm xmlns:a="http://schemas.openxmlformats.org/drawingml/2006/main">
            <a:off x="704850" y="22669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FF6B35"/>
                </a:solidFill>
              </a:defRPr>
            </a:pPr>
            <a:r>
              <a:rPr sz="2400" b="1">
                <a:solidFill>
                  <a:srgbClr val="FF6B35"/>
                </a:solidFill>
              </a:rPr>
              <a:t>Chat</a:t>
            </a:r>
          </a:p>
        </p:txBody>
      </p:sp>
      <p:sp>
        <p:nvSpPr>
          <p:cNvPr id="8" name="">
            <a:extLst xmlns:a="http://schemas.openxmlformats.org/drawingml/2006/main">
              <a:ext uri="{FF2B5EF4-FFF2-40B4-BE49-F238E27FC236}">
                <a16:creationId xmlns:a16="http://schemas.microsoft.com/office/drawing/2014/main" id="{EA764FD6-1B8A-490E-B951-D46E72751193}"/>
              </a:ext>
            </a:extLst>
          </p:cNvPr>
          <p:cNvSpPr>
            <a:spLocks xmlns:a="http://schemas.openxmlformats.org/drawingml/2006/main" noGrp="1"/>
          </p:cNvSpPr>
          <p:nvPr/>
        </p:nvSpPr>
        <p:spPr>
          <a:xfrm xmlns:a="http://schemas.openxmlformats.org/drawingml/2006/main">
            <a:off x="704850" y="28194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Multi-agent answers with sources, routing trace, and optional WhatsApp entry point</a:t>
            </a:r>
          </a:p>
        </p:txBody>
      </p:sp>
      <p:sp>
        <p:nvSpPr>
          <p:cNvPr id="9" name="">
            <a:extLst xmlns:a="http://schemas.openxmlformats.org/drawingml/2006/main">
              <a:ext uri="{FF2B5EF4-FFF2-40B4-BE49-F238E27FC236}">
                <a16:creationId xmlns:a16="http://schemas.microsoft.com/office/drawing/2014/main" id="{DCE434BF-0B13-4295-81E6-2849DDBC8F8E}"/>
              </a:ext>
            </a:extLst>
          </p:cNvPr>
          <p:cNvSpPr>
            <a:spLocks xmlns:a="http://schemas.openxmlformats.org/drawingml/2006/main" noGrp="1"/>
          </p:cNvSpPr>
          <p:nvPr/>
        </p:nvSpPr>
        <p:spPr>
          <a:xfrm xmlns:a="http://schemas.openxmlformats.org/drawingml/2006/main">
            <a:off x="3486150" y="2000250"/>
            <a:ext cx="2476500" cy="1619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451D690-5C2C-4DFE-8761-92FB3824B1A6}"/>
              </a:ext>
            </a:extLst>
          </p:cNvPr>
          <p:cNvSpPr>
            <a:spLocks xmlns:a="http://schemas.openxmlformats.org/drawingml/2006/main" noGrp="1"/>
          </p:cNvSpPr>
          <p:nvPr/>
        </p:nvSpPr>
        <p:spPr>
          <a:xfrm xmlns:a="http://schemas.openxmlformats.org/drawingml/2006/main">
            <a:off x="3676650" y="22669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0E7490"/>
                </a:solidFill>
              </a:defRPr>
            </a:pPr>
            <a:r>
              <a:rPr sz="2400" b="1">
                <a:solidFill>
                  <a:srgbClr val="0E7490"/>
                </a:solidFill>
              </a:rPr>
              <a:t>Hospital CRM</a:t>
            </a:r>
          </a:p>
        </p:txBody>
      </p:sp>
      <p:sp>
        <p:nvSpPr>
          <p:cNvPr id="11" name="">
            <a:extLst xmlns:a="http://schemas.openxmlformats.org/drawingml/2006/main">
              <a:ext uri="{FF2B5EF4-FFF2-40B4-BE49-F238E27FC236}">
                <a16:creationId xmlns:a16="http://schemas.microsoft.com/office/drawing/2014/main" id="{69C9D824-DBE9-4D54-8C36-297BA184FDB9}"/>
              </a:ext>
            </a:extLst>
          </p:cNvPr>
          <p:cNvSpPr>
            <a:spLocks xmlns:a="http://schemas.openxmlformats.org/drawingml/2006/main" noGrp="1"/>
          </p:cNvSpPr>
          <p:nvPr/>
        </p:nvSpPr>
        <p:spPr>
          <a:xfrm xmlns:a="http://schemas.openxmlformats.org/drawingml/2006/main">
            <a:off x="3676650" y="28194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Patients, doctors, departments, schedules, appointments, finance, and table CRUD</a:t>
            </a:r>
          </a:p>
        </p:txBody>
      </p:sp>
      <p:sp>
        <p:nvSpPr>
          <p:cNvPr id="12" name="">
            <a:extLst xmlns:a="http://schemas.openxmlformats.org/drawingml/2006/main">
              <a:ext uri="{FF2B5EF4-FFF2-40B4-BE49-F238E27FC236}">
                <a16:creationId xmlns:a16="http://schemas.microsoft.com/office/drawing/2014/main" id="{D61F8C1C-D675-487A-B904-113383AB2484}"/>
              </a:ext>
            </a:extLst>
          </p:cNvPr>
          <p:cNvSpPr>
            <a:spLocks xmlns:a="http://schemas.openxmlformats.org/drawingml/2006/main" noGrp="1"/>
          </p:cNvSpPr>
          <p:nvPr/>
        </p:nvSpPr>
        <p:spPr>
          <a:xfrm xmlns:a="http://schemas.openxmlformats.org/drawingml/2006/main">
            <a:off x="6457950" y="2000250"/>
            <a:ext cx="2476500" cy="1619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1DFE6B7-65AB-4949-BC68-46AE9989C646}"/>
              </a:ext>
            </a:extLst>
          </p:cNvPr>
          <p:cNvSpPr>
            <a:spLocks xmlns:a="http://schemas.openxmlformats.org/drawingml/2006/main" noGrp="1"/>
          </p:cNvSpPr>
          <p:nvPr/>
        </p:nvSpPr>
        <p:spPr>
          <a:xfrm xmlns:a="http://schemas.openxmlformats.org/drawingml/2006/main">
            <a:off x="6648450" y="22669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166534"/>
                </a:solidFill>
              </a:defRPr>
            </a:pPr>
            <a:r>
              <a:rPr sz="2400" b="1">
                <a:solidFill>
                  <a:srgbClr val="166534"/>
                </a:solidFill>
              </a:rPr>
              <a:t>Documents</a:t>
            </a:r>
          </a:p>
        </p:txBody>
      </p:sp>
      <p:sp>
        <p:nvSpPr>
          <p:cNvPr id="14" name="">
            <a:extLst xmlns:a="http://schemas.openxmlformats.org/drawingml/2006/main">
              <a:ext uri="{FF2B5EF4-FFF2-40B4-BE49-F238E27FC236}">
                <a16:creationId xmlns:a16="http://schemas.microsoft.com/office/drawing/2014/main" id="{C9C4078E-9E57-4BE1-81E8-632C98E50D06}"/>
              </a:ext>
            </a:extLst>
          </p:cNvPr>
          <p:cNvSpPr>
            <a:spLocks xmlns:a="http://schemas.openxmlformats.org/drawingml/2006/main" noGrp="1"/>
          </p:cNvSpPr>
          <p:nvPr/>
        </p:nvSpPr>
        <p:spPr>
          <a:xfrm xmlns:a="http://schemas.openxmlformats.org/drawingml/2006/main">
            <a:off x="6648450" y="28194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Upload, metadata edit, chunking, indexing, catalog search, and role access</a:t>
            </a:r>
          </a:p>
        </p:txBody>
      </p:sp>
      <p:sp>
        <p:nvSpPr>
          <p:cNvPr id="15" name="">
            <a:extLst xmlns:a="http://schemas.openxmlformats.org/drawingml/2006/main">
              <a:ext uri="{FF2B5EF4-FFF2-40B4-BE49-F238E27FC236}">
                <a16:creationId xmlns:a16="http://schemas.microsoft.com/office/drawing/2014/main" id="{0C9B3EA1-15AF-4B1C-8314-788CBC28F879}"/>
              </a:ext>
            </a:extLst>
          </p:cNvPr>
          <p:cNvSpPr>
            <a:spLocks xmlns:a="http://schemas.openxmlformats.org/drawingml/2006/main" noGrp="1"/>
          </p:cNvSpPr>
          <p:nvPr/>
        </p:nvSpPr>
        <p:spPr>
          <a:xfrm xmlns:a="http://schemas.openxmlformats.org/drawingml/2006/main">
            <a:off x="9429750" y="2000250"/>
            <a:ext cx="2095500" cy="1619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4534929-6781-47B2-9C7C-CA566CC76FFD}"/>
              </a:ext>
            </a:extLst>
          </p:cNvPr>
          <p:cNvSpPr>
            <a:spLocks xmlns:a="http://schemas.openxmlformats.org/drawingml/2006/main" noGrp="1"/>
          </p:cNvSpPr>
          <p:nvPr/>
        </p:nvSpPr>
        <p:spPr>
          <a:xfrm xmlns:a="http://schemas.openxmlformats.org/drawingml/2006/main">
            <a:off x="9620250" y="22669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111111"/>
                </a:solidFill>
              </a:defRPr>
            </a:pPr>
            <a:r>
              <a:rPr sz="2400" b="1">
                <a:solidFill>
                  <a:srgbClr val="111111"/>
                </a:solidFill>
              </a:rPr>
              <a:t>Evaluations</a:t>
            </a:r>
          </a:p>
        </p:txBody>
      </p:sp>
      <p:sp>
        <p:nvSpPr>
          <p:cNvPr id="17" name="">
            <a:extLst xmlns:a="http://schemas.openxmlformats.org/drawingml/2006/main">
              <a:ext uri="{FF2B5EF4-FFF2-40B4-BE49-F238E27FC236}">
                <a16:creationId xmlns:a16="http://schemas.microsoft.com/office/drawing/2014/main" id="{A85CA817-5DA8-48EA-AB8C-696F4BD82ABF}"/>
              </a:ext>
            </a:extLst>
          </p:cNvPr>
          <p:cNvSpPr>
            <a:spLocks xmlns:a="http://schemas.openxmlformats.org/drawingml/2006/main" noGrp="1"/>
          </p:cNvSpPr>
          <p:nvPr/>
        </p:nvSpPr>
        <p:spPr>
          <a:xfrm xmlns:a="http://schemas.openxmlformats.org/drawingml/2006/main">
            <a:off x="9620250" y="281940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Golden and stress tests for agents, tools, sources, safety, and latency</a:t>
            </a:r>
          </a:p>
        </p:txBody>
      </p:sp>
      <p:sp>
        <p:nvSpPr>
          <p:cNvPr id="18" name="">
            <a:extLst xmlns:a="http://schemas.openxmlformats.org/drawingml/2006/main">
              <a:ext uri="{FF2B5EF4-FFF2-40B4-BE49-F238E27FC236}">
                <a16:creationId xmlns:a16="http://schemas.microsoft.com/office/drawing/2014/main" id="{35C4D6D0-7381-4139-9D7F-942BA4582176}"/>
              </a:ext>
            </a:extLst>
          </p:cNvPr>
          <p:cNvSpPr>
            <a:spLocks xmlns:a="http://schemas.openxmlformats.org/drawingml/2006/main" noGrp="1"/>
          </p:cNvSpPr>
          <p:nvPr/>
        </p:nvSpPr>
        <p:spPr>
          <a:xfrm xmlns:a="http://schemas.openxmlformats.org/drawingml/2006/main">
            <a:off x="1047750" y="447675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0">
                <a:solidFill>
                  <a:srgbClr val="555555"/>
                </a:solidFill>
              </a:defRPr>
            </a:pPr>
            <a:r>
              <a:rPr sz="1800" b="0">
                <a:solidFill>
                  <a:srgbClr val="555555"/>
                </a:solidFill>
              </a:rPr>
              <a:t>Admins can change tool execution mode, review query traces, track costs and latency, and manage the metadata that drives routing quality.</a:t>
            </a:r>
          </a:p>
        </p:txBody>
      </p:sp>
    </p:spTree>
    <p:extLst>
      <p:ext uri="{BB962C8B-B14F-4D97-AF65-F5344CB8AC3E}">
        <p14:creationId xmlns:p14="http://schemas.microsoft.com/office/powerpoint/2010/main" val="10102436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7689B8-D235-4354-A7B5-C1DA294DAAFB}"/>
              </a:ext>
            </a:extLst>
          </p:cNvPr>
          <p:cNvSpPr>
            <a:spLocks xmlns:a="http://schemas.openxmlformats.org/drawingml/2006/main" noGrp="1"/>
          </p:cNvSpPr>
          <p:nvPr/>
        </p:nvSpPr>
        <p:spPr>
          <a:xfrm xmlns:a="http://schemas.openxmlformats.org/drawingml/2006/main">
            <a:off x="400050" y="304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55555"/>
                </a:solidFill>
              </a:defRPr>
            </a:pPr>
            <a:r>
              <a:rPr sz="1050" b="1">
                <a:solidFill>
                  <a:srgbClr val="555555"/>
                </a:solidFill>
              </a:rPr>
              <a:t>MULTI-AGENT WORKFLOW</a:t>
            </a:r>
          </a:p>
        </p:txBody>
      </p:sp>
      <p:sp>
        <p:nvSpPr>
          <p:cNvPr id="2" name="">
            <a:extLst xmlns:a="http://schemas.openxmlformats.org/drawingml/2006/main">
              <a:ext uri="{FF2B5EF4-FFF2-40B4-BE49-F238E27FC236}">
                <a16:creationId xmlns:a16="http://schemas.microsoft.com/office/drawing/2014/main" id="{9665981F-FB05-4FF4-9066-670533E6A932}"/>
              </a:ext>
            </a:extLst>
          </p:cNvPr>
          <p:cNvSpPr>
            <a:spLocks xmlns:a="http://schemas.openxmlformats.org/drawingml/2006/main" noGrp="1"/>
          </p:cNvSpPr>
          <p:nvPr/>
        </p:nvSpPr>
        <p:spPr>
          <a:xfrm xmlns:a="http://schemas.openxmlformats.org/drawingml/2006/main">
            <a:off x="400050" y="628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11111"/>
                </a:solidFill>
              </a:defRPr>
            </a:pPr>
            <a:r>
              <a:rPr sz="2925" b="1">
                <a:solidFill>
                  <a:srgbClr val="111111"/>
                </a:solidFill>
              </a:rPr>
              <a:t>Supervisor chooses specialists; specialists choose their tools</a:t>
            </a:r>
          </a:p>
        </p:txBody>
      </p:sp>
      <p:sp>
        <p:nvSpPr>
          <p:cNvPr id="3" name="">
            <a:extLst xmlns:a="http://schemas.openxmlformats.org/drawingml/2006/main">
              <a:ext uri="{FF2B5EF4-FFF2-40B4-BE49-F238E27FC236}">
                <a16:creationId xmlns:a16="http://schemas.microsoft.com/office/drawing/2014/main" id="{95DAFCBF-05A2-4810-9745-1A7453956A14}"/>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93BC02E2-897D-4ABE-9FD8-79943A1E51A7}"/>
              </a:ext>
            </a:extLst>
          </p:cNvPr>
          <p:cNvSpPr>
            <a:spLocks xmlns:a="http://schemas.openxmlformats.org/drawingml/2006/main" noGrp="1"/>
          </p:cNvSpPr>
          <p:nvPr/>
        </p:nvSpPr>
        <p:spPr>
          <a:xfrm xmlns:a="http://schemas.openxmlformats.org/drawingml/2006/main">
            <a:off x="400050" y="6381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dstrmaysam healthcare knowledge multi-agent</a:t>
            </a:r>
          </a:p>
        </p:txBody>
      </p:sp>
      <p:sp>
        <p:nvSpPr>
          <p:cNvPr id="5" name="">
            <a:extLst xmlns:a="http://schemas.openxmlformats.org/drawingml/2006/main">
              <a:ext uri="{FF2B5EF4-FFF2-40B4-BE49-F238E27FC236}">
                <a16:creationId xmlns:a16="http://schemas.microsoft.com/office/drawing/2014/main" id="{8FB6A793-BBDF-4768-BCD4-50A6E56BD153}"/>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defRPr>
            </a:pPr>
            <a:r>
              <a:rPr sz="975" b="0">
                <a:solidFill>
                  <a:srgbClr val="555555"/>
                </a:solidFill>
              </a:rPr>
              <a:t>06</a:t>
            </a:r>
          </a:p>
        </p:txBody>
      </p:sp>
      <p:sp>
        <p:nvSpPr>
          <p:cNvPr id="6" name="User question">
            <a:extLst xmlns:a="http://schemas.openxmlformats.org/drawingml/2006/main">
              <a:ext uri="{FF2B5EF4-FFF2-40B4-BE49-F238E27FC236}">
                <a16:creationId xmlns:a16="http://schemas.microsoft.com/office/drawing/2014/main" id="{7EC783CF-8FA3-4753-B157-9041B98C636C}"/>
              </a:ext>
            </a:extLst>
          </p:cNvPr>
          <p:cNvSpPr>
            <a:spLocks xmlns:a="http://schemas.openxmlformats.org/drawingml/2006/main" noGrp="1"/>
          </p:cNvSpPr>
          <p:nvPr/>
        </p:nvSpPr>
        <p:spPr>
          <a:xfrm xmlns:a="http://schemas.openxmlformats.org/drawingml/2006/main">
            <a:off x="523875" y="3000375"/>
            <a:ext cx="1524000" cy="666750"/>
          </a:xfrm>
          <a:prstGeom xmlns:a="http://schemas.openxmlformats.org/drawingml/2006/main" prst="roundRect">
            <a:avLst>
              <a:gd name="adj" fmla="val 11429"/>
            </a:avLst>
          </a:prstGeom>
          <a:solidFill xmlns:a="http://schemas.openxmlformats.org/drawingml/2006/main">
            <a:srgbClr val="FFF7ED"/>
          </a:solidFill>
          <a:ln xmlns:a="http://schemas.openxmlformats.org/drawingml/2006/main" w="9525">
            <a:solidFill>
              <a:srgbClr val="FF6B35"/>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User question</a:t>
            </a:r>
          </a:p>
        </p:txBody>
      </p:sp>
      <p:sp>
        <p:nvSpPr>
          <p:cNvPr id="7" name="SupervisorAgent&#10;selects specialist work">
            <a:extLst xmlns:a="http://schemas.openxmlformats.org/drawingml/2006/main">
              <a:ext uri="{FF2B5EF4-FFF2-40B4-BE49-F238E27FC236}">
                <a16:creationId xmlns:a16="http://schemas.microsoft.com/office/drawing/2014/main" id="{092884E3-EA74-43FD-B5A9-6E136C6E8572}"/>
              </a:ext>
            </a:extLst>
          </p:cNvPr>
          <p:cNvSpPr>
            <a:spLocks xmlns:a="http://schemas.openxmlformats.org/drawingml/2006/main" noGrp="1"/>
          </p:cNvSpPr>
          <p:nvPr/>
        </p:nvSpPr>
        <p:spPr>
          <a:xfrm xmlns:a="http://schemas.openxmlformats.org/drawingml/2006/main">
            <a:off x="2762250" y="2714625"/>
            <a:ext cx="2095500" cy="1238250"/>
          </a:xfrm>
          <a:prstGeom xmlns:a="http://schemas.openxmlformats.org/drawingml/2006/main" prst="roundRect">
            <a:avLst>
              <a:gd name="adj" fmla="val 6154"/>
            </a:avLst>
          </a:prstGeom>
          <a:solidFill xmlns:a="http://schemas.openxmlformats.org/drawingml/2006/main">
            <a:srgbClr val="F0FDFA"/>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defRPr>
            </a:pPr>
            <a:r>
              <a:rPr sz="1350" b="1">
                <a:solidFill>
                  <a:srgbClr val="111111"/>
                </a:solidFill>
              </a:rPr>
              <a:t>SupervisorAgent</a:t>
            </a:r>
          </a:p>
          <a:p xmlns:a="http://schemas.openxmlformats.org/drawingml/2006/main">
            <a:pPr algn="ctr">
              <a:defRPr sz="1350" b="1">
                <a:solidFill>
                  <a:srgbClr val="111111"/>
                </a:solidFill>
              </a:defRPr>
            </a:pPr>
            <a:r>
              <a:rPr sz="1350" b="1">
                <a:solidFill>
                  <a:srgbClr val="111111"/>
                </a:solidFill>
              </a:rPr>
              <a:t>selects specialist work</a:t>
            </a:r>
          </a:p>
        </p:txBody>
      </p:sp>
      <p:sp>
        <p:nvSpPr>
          <p:cNvPr id="8" name="DeterministicLookupAgent&#10;Postgres facts">
            <a:extLst xmlns:a="http://schemas.openxmlformats.org/drawingml/2006/main">
              <a:ext uri="{FF2B5EF4-FFF2-40B4-BE49-F238E27FC236}">
                <a16:creationId xmlns:a16="http://schemas.microsoft.com/office/drawing/2014/main" id="{EA9040D6-FC72-42F4-968D-7785B8A09D68}"/>
              </a:ext>
            </a:extLst>
          </p:cNvPr>
          <p:cNvSpPr>
            <a:spLocks xmlns:a="http://schemas.openxmlformats.org/drawingml/2006/main" noGrp="1"/>
          </p:cNvSpPr>
          <p:nvPr/>
        </p:nvSpPr>
        <p:spPr>
          <a:xfrm xmlns:a="http://schemas.openxmlformats.org/drawingml/2006/main">
            <a:off x="5619750" y="1666875"/>
            <a:ext cx="20955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11111"/>
                </a:solidFill>
              </a:defRPr>
            </a:pPr>
            <a:r>
              <a:rPr sz="1200" b="1">
                <a:solidFill>
                  <a:srgbClr val="111111"/>
                </a:solidFill>
              </a:rPr>
              <a:t>DeterministicLookupAgent</a:t>
            </a:r>
          </a:p>
          <a:p xmlns:a="http://schemas.openxmlformats.org/drawingml/2006/main">
            <a:pPr algn="ctr">
              <a:defRPr sz="1200" b="1">
                <a:solidFill>
                  <a:srgbClr val="111111"/>
                </a:solidFill>
              </a:defRPr>
            </a:pPr>
            <a:r>
              <a:rPr sz="1200" b="1">
                <a:solidFill>
                  <a:srgbClr val="111111"/>
                </a:solidFill>
              </a:rPr>
              <a:t>Postgres facts</a:t>
            </a:r>
          </a:p>
        </p:txBody>
      </p:sp>
      <p:sp>
        <p:nvSpPr>
          <p:cNvPr id="9" name="PolicyAgent&#10;Guidelines and SOPs">
            <a:extLst xmlns:a="http://schemas.openxmlformats.org/drawingml/2006/main">
              <a:ext uri="{FF2B5EF4-FFF2-40B4-BE49-F238E27FC236}">
                <a16:creationId xmlns:a16="http://schemas.microsoft.com/office/drawing/2014/main" id="{4A611818-5A0A-40B6-9782-540FF5DE7B62}"/>
              </a:ext>
            </a:extLst>
          </p:cNvPr>
          <p:cNvSpPr>
            <a:spLocks xmlns:a="http://schemas.openxmlformats.org/drawingml/2006/main" noGrp="1"/>
          </p:cNvSpPr>
          <p:nvPr/>
        </p:nvSpPr>
        <p:spPr>
          <a:xfrm xmlns:a="http://schemas.openxmlformats.org/drawingml/2006/main">
            <a:off x="5619750" y="2619375"/>
            <a:ext cx="20955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11111"/>
                </a:solidFill>
              </a:defRPr>
            </a:pPr>
            <a:r>
              <a:rPr sz="1200" b="1">
                <a:solidFill>
                  <a:srgbClr val="111111"/>
                </a:solidFill>
              </a:rPr>
              <a:t>PolicyAgent</a:t>
            </a:r>
          </a:p>
          <a:p xmlns:a="http://schemas.openxmlformats.org/drawingml/2006/main">
            <a:pPr algn="ctr">
              <a:defRPr sz="1200" b="1">
                <a:solidFill>
                  <a:srgbClr val="111111"/>
                </a:solidFill>
              </a:defRPr>
            </a:pPr>
            <a:r>
              <a:rPr sz="1200" b="1">
                <a:solidFill>
                  <a:srgbClr val="111111"/>
                </a:solidFill>
              </a:rPr>
              <a:t>Guidelines and SOPs</a:t>
            </a:r>
          </a:p>
        </p:txBody>
      </p:sp>
      <p:sp>
        <p:nvSpPr>
          <p:cNvPr id="10" name="RAGAgent&#10;General document evidence">
            <a:extLst xmlns:a="http://schemas.openxmlformats.org/drawingml/2006/main">
              <a:ext uri="{FF2B5EF4-FFF2-40B4-BE49-F238E27FC236}">
                <a16:creationId xmlns:a16="http://schemas.microsoft.com/office/drawing/2014/main" id="{91CC8BF3-1E54-45BC-BC16-66577FDA9C9C}"/>
              </a:ext>
            </a:extLst>
          </p:cNvPr>
          <p:cNvSpPr>
            <a:spLocks xmlns:a="http://schemas.openxmlformats.org/drawingml/2006/main" noGrp="1"/>
          </p:cNvSpPr>
          <p:nvPr/>
        </p:nvSpPr>
        <p:spPr>
          <a:xfrm xmlns:a="http://schemas.openxmlformats.org/drawingml/2006/main">
            <a:off x="5619750" y="3571875"/>
            <a:ext cx="20955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11111"/>
                </a:solidFill>
              </a:defRPr>
            </a:pPr>
            <a:r>
              <a:rPr sz="1200" b="1">
                <a:solidFill>
                  <a:srgbClr val="111111"/>
                </a:solidFill>
              </a:rPr>
              <a:t>RAGAgent</a:t>
            </a:r>
          </a:p>
          <a:p xmlns:a="http://schemas.openxmlformats.org/drawingml/2006/main">
            <a:pPr algn="ctr">
              <a:defRPr sz="1200" b="1">
                <a:solidFill>
                  <a:srgbClr val="111111"/>
                </a:solidFill>
              </a:defRPr>
            </a:pPr>
            <a:r>
              <a:rPr sz="1200" b="1">
                <a:solidFill>
                  <a:srgbClr val="111111"/>
                </a:solidFill>
              </a:rPr>
              <a:t>General document evidence</a:t>
            </a:r>
          </a:p>
        </p:txBody>
      </p:sp>
      <p:sp>
        <p:nvSpPr>
          <p:cNvPr id="11" name="CatalogAgent&#10;Document inventory">
            <a:extLst xmlns:a="http://schemas.openxmlformats.org/drawingml/2006/main">
              <a:ext uri="{FF2B5EF4-FFF2-40B4-BE49-F238E27FC236}">
                <a16:creationId xmlns:a16="http://schemas.microsoft.com/office/drawing/2014/main" id="{2A7C0870-07C0-43E5-B0F2-EF65EA0CF692}"/>
              </a:ext>
            </a:extLst>
          </p:cNvPr>
          <p:cNvSpPr>
            <a:spLocks xmlns:a="http://schemas.openxmlformats.org/drawingml/2006/main" noGrp="1"/>
          </p:cNvSpPr>
          <p:nvPr/>
        </p:nvSpPr>
        <p:spPr>
          <a:xfrm xmlns:a="http://schemas.openxmlformats.org/drawingml/2006/main">
            <a:off x="8096250" y="2143125"/>
            <a:ext cx="20955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11111"/>
                </a:solidFill>
              </a:defRPr>
            </a:pPr>
            <a:r>
              <a:rPr sz="1200" b="1">
                <a:solidFill>
                  <a:srgbClr val="111111"/>
                </a:solidFill>
              </a:rPr>
              <a:t>CatalogAgent</a:t>
            </a:r>
          </a:p>
          <a:p xmlns:a="http://schemas.openxmlformats.org/drawingml/2006/main">
            <a:pPr algn="ctr">
              <a:defRPr sz="1200" b="1">
                <a:solidFill>
                  <a:srgbClr val="111111"/>
                </a:solidFill>
              </a:defRPr>
            </a:pPr>
            <a:r>
              <a:rPr sz="1200" b="1">
                <a:solidFill>
                  <a:srgbClr val="111111"/>
                </a:solidFill>
              </a:rPr>
              <a:t>Document inventory</a:t>
            </a:r>
          </a:p>
        </p:txBody>
      </p:sp>
      <p:sp>
        <p:nvSpPr>
          <p:cNvPr id="12" name="SafetyAgent&#10;Risk and PHI review">
            <a:extLst xmlns:a="http://schemas.openxmlformats.org/drawingml/2006/main">
              <a:ext uri="{FF2B5EF4-FFF2-40B4-BE49-F238E27FC236}">
                <a16:creationId xmlns:a16="http://schemas.microsoft.com/office/drawing/2014/main" id="{ADC5E6B9-23E8-4751-A353-FECBFEB32DB6}"/>
              </a:ext>
            </a:extLst>
          </p:cNvPr>
          <p:cNvSpPr>
            <a:spLocks xmlns:a="http://schemas.openxmlformats.org/drawingml/2006/main" noGrp="1"/>
          </p:cNvSpPr>
          <p:nvPr/>
        </p:nvSpPr>
        <p:spPr>
          <a:xfrm xmlns:a="http://schemas.openxmlformats.org/drawingml/2006/main">
            <a:off x="8096250" y="3286125"/>
            <a:ext cx="20955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11111"/>
                </a:solidFill>
              </a:defRPr>
            </a:pPr>
            <a:r>
              <a:rPr sz="1200" b="1">
                <a:solidFill>
                  <a:srgbClr val="111111"/>
                </a:solidFill>
              </a:rPr>
              <a:t>SafetyAgent</a:t>
            </a:r>
          </a:p>
          <a:p xmlns:a="http://schemas.openxmlformats.org/drawingml/2006/main">
            <a:pPr algn="ctr">
              <a:defRPr sz="1200" b="1">
                <a:solidFill>
                  <a:srgbClr val="111111"/>
                </a:solidFill>
              </a:defRPr>
            </a:pPr>
            <a:r>
              <a:rPr sz="1200" b="1">
                <a:solidFill>
                  <a:srgbClr val="111111"/>
                </a:solidFill>
              </a:rPr>
              <a:t>Risk and PHI review</a:t>
            </a:r>
          </a:p>
        </p:txBody>
      </p:sp>
      <p:sp>
        <p:nvSpPr>
          <p:cNvPr id="13" name="SynthesisAgent&#10;writes one final answer">
            <a:extLst xmlns:a="http://schemas.openxmlformats.org/drawingml/2006/main">
              <a:ext uri="{FF2B5EF4-FFF2-40B4-BE49-F238E27FC236}">
                <a16:creationId xmlns:a16="http://schemas.microsoft.com/office/drawing/2014/main" id="{14D7A1D3-FF82-46BE-8F39-920D86EC9AEF}"/>
              </a:ext>
            </a:extLst>
          </p:cNvPr>
          <p:cNvSpPr>
            <a:spLocks xmlns:a="http://schemas.openxmlformats.org/drawingml/2006/main" noGrp="1"/>
          </p:cNvSpPr>
          <p:nvPr/>
        </p:nvSpPr>
        <p:spPr>
          <a:xfrm xmlns:a="http://schemas.openxmlformats.org/drawingml/2006/main">
            <a:off x="9477375" y="4667250"/>
            <a:ext cx="2095500" cy="819150"/>
          </a:xfrm>
          <a:prstGeom xmlns:a="http://schemas.openxmlformats.org/drawingml/2006/main" prst="roundRect">
            <a:avLst>
              <a:gd name="adj" fmla="val 9302"/>
            </a:avLst>
          </a:prstGeom>
          <a:solidFill xmlns:a="http://schemas.openxmlformats.org/drawingml/2006/main">
            <a:srgbClr val="F7FE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SynthesisAgent</a:t>
            </a:r>
          </a:p>
          <a:p xmlns:a="http://schemas.openxmlformats.org/drawingml/2006/main">
            <a:pPr algn="ctr">
              <a:defRPr sz="1275" b="1">
                <a:solidFill>
                  <a:srgbClr val="111111"/>
                </a:solidFill>
              </a:defRPr>
            </a:pPr>
            <a:r>
              <a:rPr sz="1275" b="1">
                <a:solidFill>
                  <a:srgbClr val="111111"/>
                </a:solidFill>
              </a:rPr>
              <a:t>writes one final answer</a:t>
            </a:r>
          </a:p>
        </p:txBody>
      </p:sp>
      <p:sp>
        <p:nvSpPr>
          <p:cNvPr id="14" name="">
            <a:extLst xmlns:a="http://schemas.openxmlformats.org/drawingml/2006/main">
              <a:ext uri="{FF2B5EF4-FFF2-40B4-BE49-F238E27FC236}">
                <a16:creationId xmlns:a16="http://schemas.microsoft.com/office/drawing/2014/main" id="{B21EC538-C17C-43BA-91CA-10D1DC7D62AB}"/>
              </a:ext>
            </a:extLst>
          </p:cNvPr>
          <p:cNvSpPr>
            <a:spLocks xmlns:a="http://schemas.openxmlformats.org/drawingml/2006/main" noGrp="1"/>
          </p:cNvSpPr>
          <p:nvPr/>
        </p:nvSpPr>
        <p:spPr>
          <a:xfrm xmlns:a="http://schemas.openxmlformats.org/drawingml/2006/main">
            <a:off x="2047875" y="3333750"/>
            <a:ext cx="714375"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5" name="">
            <a:extLst xmlns:a="http://schemas.openxmlformats.org/drawingml/2006/main">
              <a:ext uri="{FF2B5EF4-FFF2-40B4-BE49-F238E27FC236}">
                <a16:creationId xmlns:a16="http://schemas.microsoft.com/office/drawing/2014/main" id="{4D9A1259-AF52-4D29-84C3-487C686B8EB3}"/>
              </a:ext>
            </a:extLst>
          </p:cNvPr>
          <p:cNvSpPr>
            <a:spLocks xmlns:a="http://schemas.openxmlformats.org/drawingml/2006/main" noGrp="1"/>
          </p:cNvSpPr>
          <p:nvPr/>
        </p:nvSpPr>
        <p:spPr>
          <a:xfrm xmlns:a="http://schemas.openxmlformats.org/drawingml/2006/main">
            <a:off x="4857750" y="3286125"/>
            <a:ext cx="762000" cy="-125730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6" name="">
            <a:extLst xmlns:a="http://schemas.openxmlformats.org/drawingml/2006/main">
              <a:ext uri="{FF2B5EF4-FFF2-40B4-BE49-F238E27FC236}">
                <a16:creationId xmlns:a16="http://schemas.microsoft.com/office/drawing/2014/main" id="{38A1C5EB-B0DB-490F-893B-FEEACEBC2204}"/>
              </a:ext>
            </a:extLst>
          </p:cNvPr>
          <p:cNvSpPr>
            <a:spLocks xmlns:a="http://schemas.openxmlformats.org/drawingml/2006/main" noGrp="1"/>
          </p:cNvSpPr>
          <p:nvPr/>
        </p:nvSpPr>
        <p:spPr>
          <a:xfrm xmlns:a="http://schemas.openxmlformats.org/drawingml/2006/main">
            <a:off x="4857750" y="3333750"/>
            <a:ext cx="762000" cy="-352425"/>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7" name="">
            <a:extLst xmlns:a="http://schemas.openxmlformats.org/drawingml/2006/main">
              <a:ext uri="{FF2B5EF4-FFF2-40B4-BE49-F238E27FC236}">
                <a16:creationId xmlns:a16="http://schemas.microsoft.com/office/drawing/2014/main" id="{14CD2C4F-8E3D-47E1-BCDA-819A0E099A38}"/>
              </a:ext>
            </a:extLst>
          </p:cNvPr>
          <p:cNvSpPr>
            <a:spLocks xmlns:a="http://schemas.openxmlformats.org/drawingml/2006/main" noGrp="1"/>
          </p:cNvSpPr>
          <p:nvPr/>
        </p:nvSpPr>
        <p:spPr>
          <a:xfrm xmlns:a="http://schemas.openxmlformats.org/drawingml/2006/main">
            <a:off x="4857750" y="3381375"/>
            <a:ext cx="762000" cy="55245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8" name="">
            <a:extLst xmlns:a="http://schemas.openxmlformats.org/drawingml/2006/main">
              <a:ext uri="{FF2B5EF4-FFF2-40B4-BE49-F238E27FC236}">
                <a16:creationId xmlns:a16="http://schemas.microsoft.com/office/drawing/2014/main" id="{AE494877-7E89-40F4-B4AE-4D7F987DD4BF}"/>
              </a:ext>
            </a:extLst>
          </p:cNvPr>
          <p:cNvSpPr>
            <a:spLocks xmlns:a="http://schemas.openxmlformats.org/drawingml/2006/main" noGrp="1"/>
          </p:cNvSpPr>
          <p:nvPr/>
        </p:nvSpPr>
        <p:spPr>
          <a:xfrm xmlns:a="http://schemas.openxmlformats.org/drawingml/2006/main">
            <a:off x="4857750" y="3429000"/>
            <a:ext cx="3238500" cy="-923925"/>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9" name="">
            <a:extLst xmlns:a="http://schemas.openxmlformats.org/drawingml/2006/main">
              <a:ext uri="{FF2B5EF4-FFF2-40B4-BE49-F238E27FC236}">
                <a16:creationId xmlns:a16="http://schemas.microsoft.com/office/drawing/2014/main" id="{6B744844-389A-4BC5-A2BE-14258C193809}"/>
              </a:ext>
            </a:extLst>
          </p:cNvPr>
          <p:cNvSpPr>
            <a:spLocks xmlns:a="http://schemas.openxmlformats.org/drawingml/2006/main" noGrp="1"/>
          </p:cNvSpPr>
          <p:nvPr/>
        </p:nvSpPr>
        <p:spPr>
          <a:xfrm xmlns:a="http://schemas.openxmlformats.org/drawingml/2006/main">
            <a:off x="4857750" y="3476625"/>
            <a:ext cx="3238500" cy="17145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20" name="">
            <a:extLst xmlns:a="http://schemas.openxmlformats.org/drawingml/2006/main">
              <a:ext uri="{FF2B5EF4-FFF2-40B4-BE49-F238E27FC236}">
                <a16:creationId xmlns:a16="http://schemas.microsoft.com/office/drawing/2014/main" id="{C6E359C4-2CBF-4A66-ADA4-C3CC02A50C76}"/>
              </a:ext>
            </a:extLst>
          </p:cNvPr>
          <p:cNvSpPr>
            <a:spLocks xmlns:a="http://schemas.openxmlformats.org/drawingml/2006/main" noGrp="1"/>
          </p:cNvSpPr>
          <p:nvPr/>
        </p:nvSpPr>
        <p:spPr>
          <a:xfrm xmlns:a="http://schemas.openxmlformats.org/drawingml/2006/main">
            <a:off x="10191750" y="4010025"/>
            <a:ext cx="0" cy="657225"/>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21" name="">
            <a:extLst xmlns:a="http://schemas.openxmlformats.org/drawingml/2006/main">
              <a:ext uri="{FF2B5EF4-FFF2-40B4-BE49-F238E27FC236}">
                <a16:creationId xmlns:a16="http://schemas.microsoft.com/office/drawing/2014/main" id="{2E2A307E-9102-4A75-98DA-647BE4BEA265}"/>
              </a:ext>
            </a:extLst>
          </p:cNvPr>
          <p:cNvSpPr>
            <a:spLocks xmlns:a="http://schemas.openxmlformats.org/drawingml/2006/main" noGrp="1"/>
          </p:cNvSpPr>
          <p:nvPr/>
        </p:nvSpPr>
        <p:spPr>
          <a:xfrm xmlns:a="http://schemas.openxmlformats.org/drawingml/2006/main">
            <a:off x="1047750" y="557212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0">
                <a:solidFill>
                  <a:srgbClr val="555555"/>
                </a:solidFill>
              </a:defRPr>
            </a:pPr>
            <a:r>
              <a:rPr sz="1575" b="0">
                <a:solidFill>
                  <a:srgbClr val="555555"/>
                </a:solidFill>
              </a:rPr>
              <a:t>Each specialist validates its evidence and returns a report. The supervisor arbitrates reports before the final answer is shown.</a:t>
            </a:r>
          </a:p>
        </p:txBody>
      </p:sp>
    </p:spTree>
    <p:extLst>
      <p:ext uri="{BB962C8B-B14F-4D97-AF65-F5344CB8AC3E}">
        <p14:creationId xmlns:p14="http://schemas.microsoft.com/office/powerpoint/2010/main" val="11988063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7B3750-F59F-4E8C-A4B0-537BB095307F}"/>
              </a:ext>
            </a:extLst>
          </p:cNvPr>
          <p:cNvSpPr>
            <a:spLocks xmlns:a="http://schemas.openxmlformats.org/drawingml/2006/main" noGrp="1"/>
          </p:cNvSpPr>
          <p:nvPr/>
        </p:nvSpPr>
        <p:spPr>
          <a:xfrm xmlns:a="http://schemas.openxmlformats.org/drawingml/2006/main">
            <a:off x="400050" y="304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55555"/>
                </a:solidFill>
              </a:defRPr>
            </a:pPr>
            <a:r>
              <a:rPr sz="1050" b="1">
                <a:solidFill>
                  <a:srgbClr val="555555"/>
                </a:solidFill>
              </a:rPr>
              <a:t>TOOLS AND MCP</a:t>
            </a:r>
          </a:p>
        </p:txBody>
      </p:sp>
      <p:sp>
        <p:nvSpPr>
          <p:cNvPr id="2" name="">
            <a:extLst xmlns:a="http://schemas.openxmlformats.org/drawingml/2006/main">
              <a:ext uri="{FF2B5EF4-FFF2-40B4-BE49-F238E27FC236}">
                <a16:creationId xmlns:a16="http://schemas.microsoft.com/office/drawing/2014/main" id="{7F100733-4E58-4DB7-978C-8AC16A5CC320}"/>
              </a:ext>
            </a:extLst>
          </p:cNvPr>
          <p:cNvSpPr>
            <a:spLocks xmlns:a="http://schemas.openxmlformats.org/drawingml/2006/main" noGrp="1"/>
          </p:cNvSpPr>
          <p:nvPr/>
        </p:nvSpPr>
        <p:spPr>
          <a:xfrm xmlns:a="http://schemas.openxmlformats.org/drawingml/2006/main">
            <a:off x="400050" y="628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11111"/>
                </a:solidFill>
              </a:defRPr>
            </a:pPr>
            <a:r>
              <a:rPr sz="2925" b="1">
                <a:solidFill>
                  <a:srgbClr val="111111"/>
                </a:solidFill>
              </a:rPr>
              <a:t>Tool execution can move without changing the user experience</a:t>
            </a:r>
          </a:p>
        </p:txBody>
      </p:sp>
      <p:sp>
        <p:nvSpPr>
          <p:cNvPr id="3" name="">
            <a:extLst xmlns:a="http://schemas.openxmlformats.org/drawingml/2006/main">
              <a:ext uri="{FF2B5EF4-FFF2-40B4-BE49-F238E27FC236}">
                <a16:creationId xmlns:a16="http://schemas.microsoft.com/office/drawing/2014/main" id="{E4573534-5377-4BCA-809E-4E473F14E152}"/>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0E1F52F1-D56A-4E27-B656-C29A1E868A27}"/>
              </a:ext>
            </a:extLst>
          </p:cNvPr>
          <p:cNvSpPr>
            <a:spLocks xmlns:a="http://schemas.openxmlformats.org/drawingml/2006/main" noGrp="1"/>
          </p:cNvSpPr>
          <p:nvPr/>
        </p:nvSpPr>
        <p:spPr>
          <a:xfrm xmlns:a="http://schemas.openxmlformats.org/drawingml/2006/main">
            <a:off x="400050" y="6381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dstrmaysam healthcare knowledge multi-agent</a:t>
            </a:r>
          </a:p>
        </p:txBody>
      </p:sp>
      <p:sp>
        <p:nvSpPr>
          <p:cNvPr id="5" name="">
            <a:extLst xmlns:a="http://schemas.openxmlformats.org/drawingml/2006/main">
              <a:ext uri="{FF2B5EF4-FFF2-40B4-BE49-F238E27FC236}">
                <a16:creationId xmlns:a16="http://schemas.microsoft.com/office/drawing/2014/main" id="{5792343C-393C-49E3-8FA0-1C11924BF50B}"/>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defRPr>
            </a:pPr>
            <a:r>
              <a:rPr sz="975" b="0">
                <a:solidFill>
                  <a:srgbClr val="555555"/>
                </a:solidFill>
              </a:rPr>
              <a:t>07</a:t>
            </a:r>
          </a:p>
        </p:txBody>
      </p:sp>
      <p:sp>
        <p:nvSpPr>
          <p:cNvPr id="6" name="Backend agents&#10;reason and select tools">
            <a:extLst xmlns:a="http://schemas.openxmlformats.org/drawingml/2006/main">
              <a:ext uri="{FF2B5EF4-FFF2-40B4-BE49-F238E27FC236}">
                <a16:creationId xmlns:a16="http://schemas.microsoft.com/office/drawing/2014/main" id="{2EE9E7AD-2C71-46F5-98B5-328D31A02343}"/>
              </a:ext>
            </a:extLst>
          </p:cNvPr>
          <p:cNvSpPr>
            <a:spLocks xmlns:a="http://schemas.openxmlformats.org/drawingml/2006/main" noGrp="1"/>
          </p:cNvSpPr>
          <p:nvPr/>
        </p:nvSpPr>
        <p:spPr>
          <a:xfrm xmlns:a="http://schemas.openxmlformats.org/drawingml/2006/main">
            <a:off x="781050" y="2190750"/>
            <a:ext cx="2381250" cy="1047750"/>
          </a:xfrm>
          <a:prstGeom xmlns:a="http://schemas.openxmlformats.org/drawingml/2006/main" prst="roundRect">
            <a:avLst>
              <a:gd name="adj" fmla="val 7273"/>
            </a:avLst>
          </a:prstGeom>
          <a:solidFill xmlns:a="http://schemas.openxmlformats.org/drawingml/2006/main">
            <a:srgbClr val="F0FDFA"/>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defRPr>
            </a:pPr>
            <a:r>
              <a:rPr sz="1350" b="1">
                <a:solidFill>
                  <a:srgbClr val="111111"/>
                </a:solidFill>
              </a:rPr>
              <a:t>Backend agents</a:t>
            </a:r>
          </a:p>
          <a:p xmlns:a="http://schemas.openxmlformats.org/drawingml/2006/main">
            <a:pPr algn="ctr">
              <a:defRPr sz="1350" b="1">
                <a:solidFill>
                  <a:srgbClr val="111111"/>
                </a:solidFill>
              </a:defRPr>
            </a:pPr>
            <a:r>
              <a:rPr sz="1350" b="1">
                <a:solidFill>
                  <a:srgbClr val="111111"/>
                </a:solidFill>
              </a:rPr>
              <a:t>reason and select tools</a:t>
            </a:r>
          </a:p>
        </p:txBody>
      </p:sp>
      <p:sp>
        <p:nvSpPr>
          <p:cNvPr id="7" name="Tool router&#10;local or MCP mode">
            <a:extLst xmlns:a="http://schemas.openxmlformats.org/drawingml/2006/main">
              <a:ext uri="{FF2B5EF4-FFF2-40B4-BE49-F238E27FC236}">
                <a16:creationId xmlns:a16="http://schemas.microsoft.com/office/drawing/2014/main" id="{E65FAF86-3E61-4151-AB88-17ACCB07DA09}"/>
              </a:ext>
            </a:extLst>
          </p:cNvPr>
          <p:cNvSpPr>
            <a:spLocks xmlns:a="http://schemas.openxmlformats.org/drawingml/2006/main" noGrp="1"/>
          </p:cNvSpPr>
          <p:nvPr/>
        </p:nvSpPr>
        <p:spPr>
          <a:xfrm xmlns:a="http://schemas.openxmlformats.org/drawingml/2006/main">
            <a:off x="3924300" y="2190750"/>
            <a:ext cx="21907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defRPr>
            </a:pPr>
            <a:r>
              <a:rPr sz="1350" b="1">
                <a:solidFill>
                  <a:srgbClr val="111111"/>
                </a:solidFill>
              </a:rPr>
              <a:t>Tool router</a:t>
            </a:r>
          </a:p>
          <a:p xmlns:a="http://schemas.openxmlformats.org/drawingml/2006/main">
            <a:pPr algn="ctr">
              <a:defRPr sz="1350" b="1">
                <a:solidFill>
                  <a:srgbClr val="111111"/>
                </a:solidFill>
              </a:defRPr>
            </a:pPr>
            <a:r>
              <a:rPr sz="1350" b="1">
                <a:solidFill>
                  <a:srgbClr val="111111"/>
                </a:solidFill>
              </a:rPr>
              <a:t>local or MCP mode</a:t>
            </a:r>
          </a:p>
        </p:txBody>
      </p:sp>
      <p:sp>
        <p:nvSpPr>
          <p:cNvPr id="8" name="Shared healthcare tools package&#10;same lookup and retrieval logic">
            <a:extLst xmlns:a="http://schemas.openxmlformats.org/drawingml/2006/main">
              <a:ext uri="{FF2B5EF4-FFF2-40B4-BE49-F238E27FC236}">
                <a16:creationId xmlns:a16="http://schemas.microsoft.com/office/drawing/2014/main" id="{92706E54-4C6D-4573-ABD6-D0BF4268BCC3}"/>
              </a:ext>
            </a:extLst>
          </p:cNvPr>
          <p:cNvSpPr>
            <a:spLocks xmlns:a="http://schemas.openxmlformats.org/drawingml/2006/main" noGrp="1"/>
          </p:cNvSpPr>
          <p:nvPr/>
        </p:nvSpPr>
        <p:spPr>
          <a:xfrm xmlns:a="http://schemas.openxmlformats.org/drawingml/2006/main">
            <a:off x="6877050" y="2000250"/>
            <a:ext cx="2476500" cy="1428750"/>
          </a:xfrm>
          <a:prstGeom xmlns:a="http://schemas.openxmlformats.org/drawingml/2006/main" prst="roundRect">
            <a:avLst>
              <a:gd name="adj" fmla="val 5333"/>
            </a:avLst>
          </a:prstGeom>
          <a:solidFill xmlns:a="http://schemas.openxmlformats.org/drawingml/2006/main">
            <a:srgbClr val="F6F6F6"/>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defRPr>
            </a:pPr>
            <a:r>
              <a:rPr sz="1350" b="1">
                <a:solidFill>
                  <a:srgbClr val="111111"/>
                </a:solidFill>
              </a:rPr>
              <a:t>Shared healthcare tools package</a:t>
            </a:r>
          </a:p>
          <a:p xmlns:a="http://schemas.openxmlformats.org/drawingml/2006/main">
            <a:pPr algn="ctr">
              <a:defRPr sz="1350" b="1">
                <a:solidFill>
                  <a:srgbClr val="111111"/>
                </a:solidFill>
              </a:defRPr>
            </a:pPr>
            <a:r>
              <a:rPr sz="1350" b="1">
                <a:solidFill>
                  <a:srgbClr val="111111"/>
                </a:solidFill>
              </a:rPr>
              <a:t>same lookup and retrieval logic</a:t>
            </a:r>
          </a:p>
        </p:txBody>
      </p:sp>
      <p:sp>
        <p:nvSpPr>
          <p:cNvPr id="9" name="MCP server&#10;executes tools for this and future projects">
            <a:extLst xmlns:a="http://schemas.openxmlformats.org/drawingml/2006/main">
              <a:ext uri="{FF2B5EF4-FFF2-40B4-BE49-F238E27FC236}">
                <a16:creationId xmlns:a16="http://schemas.microsoft.com/office/drawing/2014/main" id="{DC59DF15-D843-4EF2-A970-847D8B27BF88}"/>
              </a:ext>
            </a:extLst>
          </p:cNvPr>
          <p:cNvSpPr>
            <a:spLocks xmlns:a="http://schemas.openxmlformats.org/drawingml/2006/main" noGrp="1"/>
          </p:cNvSpPr>
          <p:nvPr/>
        </p:nvSpPr>
        <p:spPr>
          <a:xfrm xmlns:a="http://schemas.openxmlformats.org/drawingml/2006/main">
            <a:off x="9810750" y="2190750"/>
            <a:ext cx="1809750" cy="1047750"/>
          </a:xfrm>
          <a:prstGeom xmlns:a="http://schemas.openxmlformats.org/drawingml/2006/main" prst="roundRect">
            <a:avLst>
              <a:gd name="adj" fmla="val 7273"/>
            </a:avLst>
          </a:prstGeom>
          <a:solidFill xmlns:a="http://schemas.openxmlformats.org/drawingml/2006/main">
            <a:srgbClr val="FFF7ED"/>
          </a:solidFill>
          <a:ln xmlns:a="http://schemas.openxmlformats.org/drawingml/2006/main" w="9525">
            <a:solidFill>
              <a:srgbClr val="FF6B35"/>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11111"/>
                </a:solidFill>
              </a:defRPr>
            </a:pPr>
            <a:r>
              <a:rPr sz="1275" b="1">
                <a:solidFill>
                  <a:srgbClr val="111111"/>
                </a:solidFill>
              </a:rPr>
              <a:t>MCP server</a:t>
            </a:r>
          </a:p>
          <a:p xmlns:a="http://schemas.openxmlformats.org/drawingml/2006/main">
            <a:pPr algn="ctr">
              <a:defRPr sz="1275" b="1">
                <a:solidFill>
                  <a:srgbClr val="111111"/>
                </a:solidFill>
              </a:defRPr>
            </a:pPr>
            <a:r>
              <a:rPr sz="1275" b="1">
                <a:solidFill>
                  <a:srgbClr val="111111"/>
                </a:solidFill>
              </a:rPr>
              <a:t>executes tools for this and future projects</a:t>
            </a:r>
          </a:p>
        </p:txBody>
      </p:sp>
      <p:sp>
        <p:nvSpPr>
          <p:cNvPr id="10" name="">
            <a:extLst xmlns:a="http://schemas.openxmlformats.org/drawingml/2006/main">
              <a:ext uri="{FF2B5EF4-FFF2-40B4-BE49-F238E27FC236}">
                <a16:creationId xmlns:a16="http://schemas.microsoft.com/office/drawing/2014/main" id="{207F9836-F941-49FD-A5EC-0FA86AC58566}"/>
              </a:ext>
            </a:extLst>
          </p:cNvPr>
          <p:cNvSpPr>
            <a:spLocks xmlns:a="http://schemas.openxmlformats.org/drawingml/2006/main" noGrp="1"/>
          </p:cNvSpPr>
          <p:nvPr/>
        </p:nvSpPr>
        <p:spPr>
          <a:xfrm xmlns:a="http://schemas.openxmlformats.org/drawingml/2006/main">
            <a:off x="3162300" y="2714625"/>
            <a:ext cx="76200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1" name="">
            <a:extLst xmlns:a="http://schemas.openxmlformats.org/drawingml/2006/main">
              <a:ext uri="{FF2B5EF4-FFF2-40B4-BE49-F238E27FC236}">
                <a16:creationId xmlns:a16="http://schemas.microsoft.com/office/drawing/2014/main" id="{57458368-6F53-4EDE-8E55-702DC6B3A8F7}"/>
              </a:ext>
            </a:extLst>
          </p:cNvPr>
          <p:cNvSpPr>
            <a:spLocks xmlns:a="http://schemas.openxmlformats.org/drawingml/2006/main" noGrp="1"/>
          </p:cNvSpPr>
          <p:nvPr/>
        </p:nvSpPr>
        <p:spPr>
          <a:xfrm xmlns:a="http://schemas.openxmlformats.org/drawingml/2006/main">
            <a:off x="6115050" y="2714625"/>
            <a:ext cx="76200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2" name="">
            <a:extLst xmlns:a="http://schemas.openxmlformats.org/drawingml/2006/main">
              <a:ext uri="{FF2B5EF4-FFF2-40B4-BE49-F238E27FC236}">
                <a16:creationId xmlns:a16="http://schemas.microsoft.com/office/drawing/2014/main" id="{3AA39C80-6556-4F5A-8A95-2622798F58D6}"/>
              </a:ext>
            </a:extLst>
          </p:cNvPr>
          <p:cNvSpPr>
            <a:spLocks xmlns:a="http://schemas.openxmlformats.org/drawingml/2006/main" noGrp="1"/>
          </p:cNvSpPr>
          <p:nvPr/>
        </p:nvSpPr>
        <p:spPr>
          <a:xfrm xmlns:a="http://schemas.openxmlformats.org/drawingml/2006/main">
            <a:off x="9353550" y="2714625"/>
            <a:ext cx="457200" cy="0"/>
          </a:xfrm>
          <a:prstGeom xmlns:a="http://schemas.openxmlformats.org/drawingml/2006/main" prst="line">
            <a:avLst/>
          </a:prstGeom>
          <a:noFill xmlns:a="http://schemas.openxmlformats.org/drawingml/2006/main"/>
          <a:ln xmlns:a="http://schemas.openxmlformats.org/drawingml/2006/main" w="19050">
            <a:solidFill>
              <a:srgbClr val="555555"/>
            </a:solidFill>
            <a:prstDash val="solid"/>
          </a:ln>
        </p:spPr>
      </p:sp>
      <p:sp>
        <p:nvSpPr>
          <p:cNvPr id="13" name="">
            <a:extLst xmlns:a="http://schemas.openxmlformats.org/drawingml/2006/main">
              <a:ext uri="{FF2B5EF4-FFF2-40B4-BE49-F238E27FC236}">
                <a16:creationId xmlns:a16="http://schemas.microsoft.com/office/drawing/2014/main" id="{45FCA371-1ABA-4941-902F-C3816699BFA6}"/>
              </a:ext>
            </a:extLst>
          </p:cNvPr>
          <p:cNvSpPr>
            <a:spLocks xmlns:a="http://schemas.openxmlformats.org/drawingml/2006/main" noGrp="1"/>
          </p:cNvSpPr>
          <p:nvPr/>
        </p:nvSpPr>
        <p:spPr>
          <a:xfrm xmlns:a="http://schemas.openxmlformats.org/drawingml/2006/main">
            <a:off x="1619250" y="4191000"/>
            <a:ext cx="857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11111"/>
                </a:solidFill>
              </a:defRPr>
            </a:pPr>
            <a:r>
              <a:rPr sz="1725" b="0">
                <a:solidFill>
                  <a:srgbClr val="111111"/>
                </a:solidFill>
              </a:rPr>
              <a:t>- Agent reasoning stays in the healthcare backend.</a:t>
            </a:r>
          </a:p>
          <a:p xmlns:a="http://schemas.openxmlformats.org/drawingml/2006/main">
            <a:pPr algn="l">
              <a:defRPr sz="1725" b="0">
                <a:solidFill>
                  <a:srgbClr val="111111"/>
                </a:solidFill>
              </a:defRPr>
            </a:pPr>
            <a:r>
              <a:rPr sz="1725" b="0">
                <a:solidFill>
                  <a:srgbClr val="111111"/>
                </a:solidFill>
              </a:rPr>
              <a:t>- MCP only executes the selected tool and returns the result.</a:t>
            </a:r>
          </a:p>
          <a:p xmlns:a="http://schemas.openxmlformats.org/drawingml/2006/main">
            <a:pPr algn="l">
              <a:defRPr sz="1725" b="0">
                <a:solidFill>
                  <a:srgbClr val="111111"/>
                </a:solidFill>
              </a:defRPr>
            </a:pPr>
            <a:r>
              <a:rPr sz="1725" b="0">
                <a:solidFill>
                  <a:srgbClr val="111111"/>
                </a:solidFill>
              </a:rPr>
              <a:t>- Settings can switch local and MCP execution without changing the chat API.</a:t>
            </a:r>
          </a:p>
          <a:p xmlns:a="http://schemas.openxmlformats.org/drawingml/2006/main">
            <a:pPr algn="l">
              <a:defRPr sz="1725" b="0">
                <a:solidFill>
                  <a:srgbClr val="111111"/>
                </a:solidFill>
              </a:defRPr>
            </a:pPr>
            <a:r>
              <a:rPr sz="1725" b="0">
                <a:solidFill>
                  <a:srgbClr val="111111"/>
                </a:solidFill>
              </a:rPr>
              <a:t>- The dashboard records where tool calls actually happened.</a:t>
            </a:r>
          </a:p>
        </p:txBody>
      </p:sp>
    </p:spTree>
    <p:extLst>
      <p:ext uri="{BB962C8B-B14F-4D97-AF65-F5344CB8AC3E}">
        <p14:creationId xmlns:p14="http://schemas.microsoft.com/office/powerpoint/2010/main" val="3233914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4E1925A-CEE3-4A7B-96DB-15D81DC4EF79}"/>
              </a:ext>
            </a:extLst>
          </p:cNvPr>
          <p:cNvSpPr>
            <a:spLocks xmlns:a="http://schemas.openxmlformats.org/drawingml/2006/main" noGrp="1"/>
          </p:cNvSpPr>
          <p:nvPr/>
        </p:nvSpPr>
        <p:spPr>
          <a:xfrm xmlns:a="http://schemas.openxmlformats.org/drawingml/2006/main">
            <a:off x="400050" y="304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55555"/>
                </a:solidFill>
              </a:defRPr>
            </a:pPr>
            <a:r>
              <a:rPr sz="1050" b="1">
                <a:solidFill>
                  <a:srgbClr val="555555"/>
                </a:solidFill>
              </a:rPr>
              <a:t>SUGGESTED DEMO PATH</a:t>
            </a:r>
          </a:p>
        </p:txBody>
      </p:sp>
      <p:sp>
        <p:nvSpPr>
          <p:cNvPr id="2" name="">
            <a:extLst xmlns:a="http://schemas.openxmlformats.org/drawingml/2006/main">
              <a:ext uri="{FF2B5EF4-FFF2-40B4-BE49-F238E27FC236}">
                <a16:creationId xmlns:a16="http://schemas.microsoft.com/office/drawing/2014/main" id="{E3D72ECC-D739-46E2-B9BE-2CC866092049}"/>
              </a:ext>
            </a:extLst>
          </p:cNvPr>
          <p:cNvSpPr>
            <a:spLocks xmlns:a="http://schemas.openxmlformats.org/drawingml/2006/main" noGrp="1"/>
          </p:cNvSpPr>
          <p:nvPr/>
        </p:nvSpPr>
        <p:spPr>
          <a:xfrm xmlns:a="http://schemas.openxmlformats.org/drawingml/2006/main">
            <a:off x="400050" y="628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11111"/>
                </a:solidFill>
              </a:defRPr>
            </a:pPr>
            <a:r>
              <a:rPr sz="2925" b="1">
                <a:solidFill>
                  <a:srgbClr val="111111"/>
                </a:solidFill>
              </a:rPr>
              <a:t>A short demo can show the full value chain</a:t>
            </a:r>
          </a:p>
        </p:txBody>
      </p:sp>
      <p:sp>
        <p:nvSpPr>
          <p:cNvPr id="3" name="">
            <a:extLst xmlns:a="http://schemas.openxmlformats.org/drawingml/2006/main">
              <a:ext uri="{FF2B5EF4-FFF2-40B4-BE49-F238E27FC236}">
                <a16:creationId xmlns:a16="http://schemas.microsoft.com/office/drawing/2014/main" id="{CEEEC111-F7E3-46CB-B40B-202CE0929076}"/>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CB537260-491D-402E-BF8F-66EEC27AB202}"/>
              </a:ext>
            </a:extLst>
          </p:cNvPr>
          <p:cNvSpPr>
            <a:spLocks xmlns:a="http://schemas.openxmlformats.org/drawingml/2006/main" noGrp="1"/>
          </p:cNvSpPr>
          <p:nvPr/>
        </p:nvSpPr>
        <p:spPr>
          <a:xfrm xmlns:a="http://schemas.openxmlformats.org/drawingml/2006/main">
            <a:off x="400050" y="6381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dstrmaysam healthcare knowledge multi-agent</a:t>
            </a:r>
          </a:p>
        </p:txBody>
      </p:sp>
      <p:sp>
        <p:nvSpPr>
          <p:cNvPr id="5" name="">
            <a:extLst xmlns:a="http://schemas.openxmlformats.org/drawingml/2006/main">
              <a:ext uri="{FF2B5EF4-FFF2-40B4-BE49-F238E27FC236}">
                <a16:creationId xmlns:a16="http://schemas.microsoft.com/office/drawing/2014/main" id="{8B510C68-183E-4C3B-9EAA-E37CD331FAB8}"/>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defRPr>
            </a:pPr>
            <a:r>
              <a:rPr sz="975" b="0">
                <a:solidFill>
                  <a:srgbClr val="555555"/>
                </a:solidFill>
              </a:rPr>
              <a:t>08</a:t>
            </a:r>
          </a:p>
        </p:txBody>
      </p:sp>
      <p:sp>
        <p:nvSpPr>
          <p:cNvPr id="6" name="1&#10;Ask an operational question&#10;who is on call today?">
            <a:extLst xmlns:a="http://schemas.openxmlformats.org/drawingml/2006/main">
              <a:ext uri="{FF2B5EF4-FFF2-40B4-BE49-F238E27FC236}">
                <a16:creationId xmlns:a16="http://schemas.microsoft.com/office/drawing/2014/main" id="{FEA2E248-5E3B-4719-9552-8A21C9517BBB}"/>
              </a:ext>
            </a:extLst>
          </p:cNvPr>
          <p:cNvSpPr>
            <a:spLocks xmlns:a="http://schemas.openxmlformats.org/drawingml/2006/main" noGrp="1"/>
          </p:cNvSpPr>
          <p:nvPr/>
        </p:nvSpPr>
        <p:spPr>
          <a:xfrm xmlns:a="http://schemas.openxmlformats.org/drawingml/2006/main">
            <a:off x="666750" y="2143125"/>
            <a:ext cx="2190750" cy="1428750"/>
          </a:xfrm>
          <a:prstGeom xmlns:a="http://schemas.openxmlformats.org/drawingml/2006/main" prst="roundRect">
            <a:avLst>
              <a:gd name="adj" fmla="val 5333"/>
            </a:avLst>
          </a:prstGeom>
          <a:solidFill xmlns:a="http://schemas.openxmlformats.org/drawingml/2006/main">
            <a:srgbClr val="FFF7ED"/>
          </a:solidFill>
          <a:ln xmlns:a="http://schemas.openxmlformats.org/drawingml/2006/main" w="9525">
            <a:solidFill>
              <a:srgbClr val="FF6B35"/>
            </a:solidFill>
            <a:prstDash val="solid"/>
          </a:ln>
        </p:spPr>
        <p:txBody>
          <a:bodyPr xmlns:a="http://schemas.openxmlformats.org/drawingml/2006/main"/>
          <a:lstStyle xmlns:a="http://schemas.openxmlformats.org/drawingml/2006/main"/>
          <a:p xmlns:a="http://schemas.openxmlformats.org/drawingml/2006/main">
            <a:pPr algn="ctr">
              <a:defRPr sz="1425" b="1">
                <a:solidFill>
                  <a:srgbClr val="111111"/>
                </a:solidFill>
              </a:defRPr>
            </a:pPr>
            <a:r>
              <a:rPr sz="1425" b="1">
                <a:solidFill>
                  <a:srgbClr val="111111"/>
                </a:solidFill>
              </a:rPr>
              <a:t>1</a:t>
            </a:r>
          </a:p>
          <a:p xmlns:a="http://schemas.openxmlformats.org/drawingml/2006/main">
            <a:pPr algn="ctr">
              <a:defRPr sz="1425" b="1">
                <a:solidFill>
                  <a:srgbClr val="111111"/>
                </a:solidFill>
              </a:defRPr>
            </a:pPr>
            <a:r>
              <a:rPr sz="1425" b="1">
                <a:solidFill>
                  <a:srgbClr val="111111"/>
                </a:solidFill>
              </a:rPr>
              <a:t>Ask an operational question</a:t>
            </a:r>
          </a:p>
          <a:p xmlns:a="http://schemas.openxmlformats.org/drawingml/2006/main">
            <a:pPr algn="ctr">
              <a:defRPr sz="1425" b="1">
                <a:solidFill>
                  <a:srgbClr val="111111"/>
                </a:solidFill>
              </a:defRPr>
            </a:pPr>
            <a:r>
              <a:rPr sz="1425" b="1">
                <a:solidFill>
                  <a:srgbClr val="111111"/>
                </a:solidFill>
              </a:rPr>
              <a:t>who is on call today?</a:t>
            </a:r>
          </a:p>
        </p:txBody>
      </p:sp>
      <p:sp>
        <p:nvSpPr>
          <p:cNvPr id="7" name="2&#10;Ask a policy question&#10;how do I report an incident?">
            <a:extLst xmlns:a="http://schemas.openxmlformats.org/drawingml/2006/main">
              <a:ext uri="{FF2B5EF4-FFF2-40B4-BE49-F238E27FC236}">
                <a16:creationId xmlns:a16="http://schemas.microsoft.com/office/drawing/2014/main" id="{B39C35E6-02BD-487B-B28C-7C859591F4B1}"/>
              </a:ext>
            </a:extLst>
          </p:cNvPr>
          <p:cNvSpPr>
            <a:spLocks xmlns:a="http://schemas.openxmlformats.org/drawingml/2006/main" noGrp="1"/>
          </p:cNvSpPr>
          <p:nvPr/>
        </p:nvSpPr>
        <p:spPr>
          <a:xfrm xmlns:a="http://schemas.openxmlformats.org/drawingml/2006/main">
            <a:off x="3524250" y="2143125"/>
            <a:ext cx="2190750" cy="1428750"/>
          </a:xfrm>
          <a:prstGeom xmlns:a="http://schemas.openxmlformats.org/drawingml/2006/main" prst="roundRect">
            <a:avLst>
              <a:gd name="adj" fmla="val 5333"/>
            </a:avLst>
          </a:prstGeom>
          <a:solidFill xmlns:a="http://schemas.openxmlformats.org/drawingml/2006/main">
            <a:srgbClr val="F0FDFA"/>
          </a:solidFill>
          <a:ln xmlns:a="http://schemas.openxmlformats.org/drawingml/2006/main" w="9525">
            <a:solidFill>
              <a:srgbClr val="0E7490"/>
            </a:solidFill>
            <a:prstDash val="solid"/>
          </a:ln>
        </p:spPr>
        <p:txBody>
          <a:bodyPr xmlns:a="http://schemas.openxmlformats.org/drawingml/2006/main"/>
          <a:lstStyle xmlns:a="http://schemas.openxmlformats.org/drawingml/2006/main"/>
          <a:p xmlns:a="http://schemas.openxmlformats.org/drawingml/2006/main">
            <a:pPr algn="ctr">
              <a:defRPr sz="1425" b="1">
                <a:solidFill>
                  <a:srgbClr val="111111"/>
                </a:solidFill>
              </a:defRPr>
            </a:pPr>
            <a:r>
              <a:rPr sz="1425" b="1">
                <a:solidFill>
                  <a:srgbClr val="111111"/>
                </a:solidFill>
              </a:rPr>
              <a:t>2</a:t>
            </a:r>
          </a:p>
          <a:p xmlns:a="http://schemas.openxmlformats.org/drawingml/2006/main">
            <a:pPr algn="ctr">
              <a:defRPr sz="1425" b="1">
                <a:solidFill>
                  <a:srgbClr val="111111"/>
                </a:solidFill>
              </a:defRPr>
            </a:pPr>
            <a:r>
              <a:rPr sz="1425" b="1">
                <a:solidFill>
                  <a:srgbClr val="111111"/>
                </a:solidFill>
              </a:rPr>
              <a:t>Ask a policy question</a:t>
            </a:r>
          </a:p>
          <a:p xmlns:a="http://schemas.openxmlformats.org/drawingml/2006/main">
            <a:pPr algn="ctr">
              <a:defRPr sz="1425" b="1">
                <a:solidFill>
                  <a:srgbClr val="111111"/>
                </a:solidFill>
              </a:defRPr>
            </a:pPr>
            <a:r>
              <a:rPr sz="1425" b="1">
                <a:solidFill>
                  <a:srgbClr val="111111"/>
                </a:solidFill>
              </a:rPr>
              <a:t>how do I report an incident?</a:t>
            </a:r>
          </a:p>
        </p:txBody>
      </p:sp>
      <p:sp>
        <p:nvSpPr>
          <p:cNvPr id="8" name="3&#10;Ask a catalog question&#10;what guideline documents exist?">
            <a:extLst xmlns:a="http://schemas.openxmlformats.org/drawingml/2006/main">
              <a:ext uri="{FF2B5EF4-FFF2-40B4-BE49-F238E27FC236}">
                <a16:creationId xmlns:a16="http://schemas.microsoft.com/office/drawing/2014/main" id="{AA648ECE-8D68-40CB-BFBA-A95B2F6014D9}"/>
              </a:ext>
            </a:extLst>
          </p:cNvPr>
          <p:cNvSpPr>
            <a:spLocks xmlns:a="http://schemas.openxmlformats.org/drawingml/2006/main" noGrp="1"/>
          </p:cNvSpPr>
          <p:nvPr/>
        </p:nvSpPr>
        <p:spPr>
          <a:xfrm xmlns:a="http://schemas.openxmlformats.org/drawingml/2006/main">
            <a:off x="6381750" y="2143125"/>
            <a:ext cx="2190750" cy="1428750"/>
          </a:xfrm>
          <a:prstGeom xmlns:a="http://schemas.openxmlformats.org/drawingml/2006/main" prst="roundRect">
            <a:avLst>
              <a:gd name="adj" fmla="val 5333"/>
            </a:avLst>
          </a:prstGeom>
          <a:solidFill xmlns:a="http://schemas.openxmlformats.org/drawingml/2006/main">
            <a:srgbClr val="F6F6F6"/>
          </a:solidFill>
          <a:ln xmlns:a="http://schemas.openxmlformats.org/drawingml/2006/main" w="9525">
            <a:solidFill>
              <a:srgbClr val="111111"/>
            </a:solidFill>
            <a:prstDash val="solid"/>
          </a:ln>
        </p:spPr>
        <p:txBody>
          <a:bodyPr xmlns:a="http://schemas.openxmlformats.org/drawingml/2006/main"/>
          <a:lstStyle xmlns:a="http://schemas.openxmlformats.org/drawingml/2006/main"/>
          <a:p xmlns:a="http://schemas.openxmlformats.org/drawingml/2006/main">
            <a:pPr algn="ctr">
              <a:defRPr sz="1425" b="1">
                <a:solidFill>
                  <a:srgbClr val="111111"/>
                </a:solidFill>
              </a:defRPr>
            </a:pPr>
            <a:r>
              <a:rPr sz="1425" b="1">
                <a:solidFill>
                  <a:srgbClr val="111111"/>
                </a:solidFill>
              </a:rPr>
              <a:t>3</a:t>
            </a:r>
          </a:p>
          <a:p xmlns:a="http://schemas.openxmlformats.org/drawingml/2006/main">
            <a:pPr algn="ctr">
              <a:defRPr sz="1425" b="1">
                <a:solidFill>
                  <a:srgbClr val="111111"/>
                </a:solidFill>
              </a:defRPr>
            </a:pPr>
            <a:r>
              <a:rPr sz="1425" b="1">
                <a:solidFill>
                  <a:srgbClr val="111111"/>
                </a:solidFill>
              </a:rPr>
              <a:t>Ask a catalog question</a:t>
            </a:r>
          </a:p>
          <a:p xmlns:a="http://schemas.openxmlformats.org/drawingml/2006/main">
            <a:pPr algn="ctr">
              <a:defRPr sz="1425" b="1">
                <a:solidFill>
                  <a:srgbClr val="111111"/>
                </a:solidFill>
              </a:defRPr>
            </a:pPr>
            <a:r>
              <a:rPr sz="1425" b="1">
                <a:solidFill>
                  <a:srgbClr val="111111"/>
                </a:solidFill>
              </a:rPr>
              <a:t>what guideline documents exist?</a:t>
            </a:r>
          </a:p>
        </p:txBody>
      </p:sp>
      <p:sp>
        <p:nvSpPr>
          <p:cNvPr id="9" name="4&#10;Open trace and evaluations&#10;verify agents, tools, sources">
            <a:extLst xmlns:a="http://schemas.openxmlformats.org/drawingml/2006/main">
              <a:ext uri="{FF2B5EF4-FFF2-40B4-BE49-F238E27FC236}">
                <a16:creationId xmlns:a16="http://schemas.microsoft.com/office/drawing/2014/main" id="{6F450DE9-8BFF-433A-9CDA-B3E48C6D4C7D}"/>
              </a:ext>
            </a:extLst>
          </p:cNvPr>
          <p:cNvSpPr>
            <a:spLocks xmlns:a="http://schemas.openxmlformats.org/drawingml/2006/main" noGrp="1"/>
          </p:cNvSpPr>
          <p:nvPr/>
        </p:nvSpPr>
        <p:spPr>
          <a:xfrm xmlns:a="http://schemas.openxmlformats.org/drawingml/2006/main">
            <a:off x="9239250" y="2143125"/>
            <a:ext cx="2190750" cy="1428750"/>
          </a:xfrm>
          <a:prstGeom xmlns:a="http://schemas.openxmlformats.org/drawingml/2006/main" prst="roundRect">
            <a:avLst>
              <a:gd name="adj" fmla="val 5333"/>
            </a:avLst>
          </a:prstGeom>
          <a:solidFill xmlns:a="http://schemas.openxmlformats.org/drawingml/2006/main">
            <a:srgbClr val="F7FEE7"/>
          </a:solidFill>
          <a:ln xmlns:a="http://schemas.openxmlformats.org/drawingml/2006/main" w="9525">
            <a:solidFill>
              <a:srgbClr val="166534"/>
            </a:solidFill>
            <a:prstDash val="solid"/>
          </a:ln>
        </p:spPr>
        <p:txBody>
          <a:bodyPr xmlns:a="http://schemas.openxmlformats.org/drawingml/2006/main"/>
          <a:lstStyle xmlns:a="http://schemas.openxmlformats.org/drawingml/2006/main"/>
          <a:p xmlns:a="http://schemas.openxmlformats.org/drawingml/2006/main">
            <a:pPr algn="ctr">
              <a:defRPr sz="1425" b="1">
                <a:solidFill>
                  <a:srgbClr val="111111"/>
                </a:solidFill>
              </a:defRPr>
            </a:pPr>
            <a:r>
              <a:rPr sz="1425" b="1">
                <a:solidFill>
                  <a:srgbClr val="111111"/>
                </a:solidFill>
              </a:rPr>
              <a:t>4</a:t>
            </a:r>
          </a:p>
          <a:p xmlns:a="http://schemas.openxmlformats.org/drawingml/2006/main">
            <a:pPr algn="ctr">
              <a:defRPr sz="1425" b="1">
                <a:solidFill>
                  <a:srgbClr val="111111"/>
                </a:solidFill>
              </a:defRPr>
            </a:pPr>
            <a:r>
              <a:rPr sz="1425" b="1">
                <a:solidFill>
                  <a:srgbClr val="111111"/>
                </a:solidFill>
              </a:rPr>
              <a:t>Open trace and evaluations</a:t>
            </a:r>
          </a:p>
          <a:p xmlns:a="http://schemas.openxmlformats.org/drawingml/2006/main">
            <a:pPr algn="ctr">
              <a:defRPr sz="1425" b="1">
                <a:solidFill>
                  <a:srgbClr val="111111"/>
                </a:solidFill>
              </a:defRPr>
            </a:pPr>
            <a:r>
              <a:rPr sz="1425" b="1">
                <a:solidFill>
                  <a:srgbClr val="111111"/>
                </a:solidFill>
              </a:rPr>
              <a:t>verify agents, tools, sources</a:t>
            </a:r>
          </a:p>
        </p:txBody>
      </p:sp>
      <p:sp>
        <p:nvSpPr>
          <p:cNvPr id="10" name="">
            <a:extLst xmlns:a="http://schemas.openxmlformats.org/drawingml/2006/main">
              <a:ext uri="{FF2B5EF4-FFF2-40B4-BE49-F238E27FC236}">
                <a16:creationId xmlns:a16="http://schemas.microsoft.com/office/drawing/2014/main" id="{4CBF730E-DB49-4583-B6BB-AFDFEFFDE6A9}"/>
              </a:ext>
            </a:extLst>
          </p:cNvPr>
          <p:cNvSpPr>
            <a:spLocks xmlns:a="http://schemas.openxmlformats.org/drawingml/2006/main" noGrp="1"/>
          </p:cNvSpPr>
          <p:nvPr/>
        </p:nvSpPr>
        <p:spPr>
          <a:xfrm xmlns:a="http://schemas.openxmlformats.org/drawingml/2006/main">
            <a:off x="1143000" y="4524375"/>
            <a:ext cx="990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0">
                <a:solidFill>
                  <a:srgbClr val="555555"/>
                </a:solidFill>
              </a:defRPr>
            </a:pPr>
            <a:r>
              <a:rPr sz="1800" b="0">
                <a:solidFill>
                  <a:srgbClr val="555555"/>
                </a:solidFill>
              </a:rPr>
              <a:t>The point of the demo is not that the assistant talks. It is that the answer shows where it came from, which specialist handled it, and how the system can be tested.</a:t>
            </a:r>
          </a:p>
        </p:txBody>
      </p:sp>
    </p:spTree>
    <p:extLst>
      <p:ext uri="{BB962C8B-B14F-4D97-AF65-F5344CB8AC3E}">
        <p14:creationId xmlns:p14="http://schemas.microsoft.com/office/powerpoint/2010/main" val="10302343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B1A802-8BE2-4F01-A852-3325B9D66EF1}"/>
              </a:ext>
            </a:extLst>
          </p:cNvPr>
          <p:cNvSpPr>
            <a:spLocks xmlns:a="http://schemas.openxmlformats.org/drawingml/2006/main" noGrp="1"/>
          </p:cNvSpPr>
          <p:nvPr/>
        </p:nvSpPr>
        <p:spPr>
          <a:xfrm xmlns:a="http://schemas.openxmlformats.org/drawingml/2006/main">
            <a:off x="400050" y="304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55555"/>
                </a:solidFill>
              </a:defRPr>
            </a:pPr>
            <a:r>
              <a:rPr sz="1050" b="1">
                <a:solidFill>
                  <a:srgbClr val="555555"/>
                </a:solidFill>
              </a:rPr>
              <a:t>BUSINESS IMPACT</a:t>
            </a:r>
          </a:p>
        </p:txBody>
      </p:sp>
      <p:sp>
        <p:nvSpPr>
          <p:cNvPr id="2" name="">
            <a:extLst xmlns:a="http://schemas.openxmlformats.org/drawingml/2006/main">
              <a:ext uri="{FF2B5EF4-FFF2-40B4-BE49-F238E27FC236}">
                <a16:creationId xmlns:a16="http://schemas.microsoft.com/office/drawing/2014/main" id="{66B3C515-D0EF-4E7F-BA84-3FD179019389}"/>
              </a:ext>
            </a:extLst>
          </p:cNvPr>
          <p:cNvSpPr>
            <a:spLocks xmlns:a="http://schemas.openxmlformats.org/drawingml/2006/main" noGrp="1"/>
          </p:cNvSpPr>
          <p:nvPr/>
        </p:nvSpPr>
        <p:spPr>
          <a:xfrm xmlns:a="http://schemas.openxmlformats.org/drawingml/2006/main">
            <a:off x="400050" y="628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11111"/>
                </a:solidFill>
              </a:defRPr>
            </a:pPr>
            <a:r>
              <a:rPr sz="2925" b="1">
                <a:solidFill>
                  <a:srgbClr val="111111"/>
                </a:solidFill>
              </a:rPr>
              <a:t>The solution addresses the business problem through trust and speed</a:t>
            </a:r>
          </a:p>
        </p:txBody>
      </p:sp>
      <p:sp>
        <p:nvSpPr>
          <p:cNvPr id="3" name="">
            <a:extLst xmlns:a="http://schemas.openxmlformats.org/drawingml/2006/main">
              <a:ext uri="{FF2B5EF4-FFF2-40B4-BE49-F238E27FC236}">
                <a16:creationId xmlns:a16="http://schemas.microsoft.com/office/drawing/2014/main" id="{85984D20-3D7D-4440-A50E-DE815AC11EDE}"/>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5665CDF2-7451-4D2B-8E7A-F72813167E16}"/>
              </a:ext>
            </a:extLst>
          </p:cNvPr>
          <p:cNvSpPr>
            <a:spLocks xmlns:a="http://schemas.openxmlformats.org/drawingml/2006/main" noGrp="1"/>
          </p:cNvSpPr>
          <p:nvPr/>
        </p:nvSpPr>
        <p:spPr>
          <a:xfrm xmlns:a="http://schemas.openxmlformats.org/drawingml/2006/main">
            <a:off x="400050" y="6381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dstrmaysam healthcare knowledge multi-agent</a:t>
            </a:r>
          </a:p>
        </p:txBody>
      </p:sp>
      <p:sp>
        <p:nvSpPr>
          <p:cNvPr id="5" name="">
            <a:extLst xmlns:a="http://schemas.openxmlformats.org/drawingml/2006/main">
              <a:ext uri="{FF2B5EF4-FFF2-40B4-BE49-F238E27FC236}">
                <a16:creationId xmlns:a16="http://schemas.microsoft.com/office/drawing/2014/main" id="{DC5735C0-5B21-4A2A-8A4B-735FDF7A1BBE}"/>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defRPr>
            </a:pPr>
            <a:r>
              <a:rPr sz="975" b="0">
                <a:solidFill>
                  <a:srgbClr val="555555"/>
                </a:solidFill>
              </a:rPr>
              <a:t>09</a:t>
            </a:r>
          </a:p>
        </p:txBody>
      </p:sp>
      <p:sp>
        <p:nvSpPr>
          <p:cNvPr id="6" name="">
            <a:extLst xmlns:a="http://schemas.openxmlformats.org/drawingml/2006/main">
              <a:ext uri="{FF2B5EF4-FFF2-40B4-BE49-F238E27FC236}">
                <a16:creationId xmlns:a16="http://schemas.microsoft.com/office/drawing/2014/main" id="{76641780-1E07-40E7-BA81-63ECC9F68FDE}"/>
              </a:ext>
            </a:extLst>
          </p:cNvPr>
          <p:cNvSpPr>
            <a:spLocks xmlns:a="http://schemas.openxmlformats.org/drawingml/2006/main" noGrp="1"/>
          </p:cNvSpPr>
          <p:nvPr/>
        </p:nvSpPr>
        <p:spPr>
          <a:xfrm xmlns:a="http://schemas.openxmlformats.org/drawingml/2006/main">
            <a:off x="857250" y="2000250"/>
            <a:ext cx="93345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11111"/>
                </a:solidFill>
              </a:defRPr>
            </a:pPr>
            <a:r>
              <a:rPr sz="1800" b="0">
                <a:solidFill>
                  <a:srgbClr val="111111"/>
                </a:solidFill>
              </a:rPr>
              <a:t>- Faster response: common operational and policy questions can be answered from one place.</a:t>
            </a:r>
          </a:p>
          <a:p xmlns:a="http://schemas.openxmlformats.org/drawingml/2006/main">
            <a:pPr algn="l">
              <a:defRPr sz="1800" b="0">
                <a:solidFill>
                  <a:srgbClr val="111111"/>
                </a:solidFill>
              </a:defRPr>
            </a:pPr>
            <a:r>
              <a:rPr sz="1800" b="0">
                <a:solidFill>
                  <a:srgbClr val="111111"/>
                </a:solidFill>
              </a:rPr>
              <a:t>- Better governance: role-based access, PHI handling, safety review, citations, and trace metadata are built into the workflow.</a:t>
            </a:r>
          </a:p>
          <a:p xmlns:a="http://schemas.openxmlformats.org/drawingml/2006/main">
            <a:pPr algn="l">
              <a:defRPr sz="1800" b="0">
                <a:solidFill>
                  <a:srgbClr val="111111"/>
                </a:solidFill>
              </a:defRPr>
            </a:pPr>
            <a:r>
              <a:rPr sz="1800" b="0">
                <a:solidFill>
                  <a:srgbClr val="111111"/>
                </a:solidFill>
              </a:rPr>
              <a:t>- Less duplication: local and MCP tools share the same core healthcare tool package.</a:t>
            </a:r>
          </a:p>
          <a:p xmlns:a="http://schemas.openxmlformats.org/drawingml/2006/main">
            <a:pPr algn="l">
              <a:defRPr sz="1800" b="0">
                <a:solidFill>
                  <a:srgbClr val="111111"/>
                </a:solidFill>
              </a:defRPr>
            </a:pPr>
            <a:r>
              <a:rPr sz="1800" b="0">
                <a:solidFill>
                  <a:srgbClr val="111111"/>
                </a:solidFill>
              </a:rPr>
              <a:t>- Measurable quality: golden dataset and stress tests check routing, tools, sources, safety, and latency.</a:t>
            </a:r>
          </a:p>
          <a:p xmlns:a="http://schemas.openxmlformats.org/drawingml/2006/main">
            <a:pPr algn="l">
              <a:defRPr sz="1800" b="0">
                <a:solidFill>
                  <a:srgbClr val="111111"/>
                </a:solidFill>
              </a:defRPr>
            </a:pPr>
            <a:r>
              <a:rPr sz="1800" b="0">
                <a:solidFill>
                  <a:srgbClr val="111111"/>
                </a:solidFill>
              </a:rPr>
              <a:t>- Future ready: tools can move to shared MCP services while the specialist agent workflow remains in the healthcare backend.</a:t>
            </a:r>
          </a:p>
        </p:txBody>
      </p:sp>
    </p:spTree>
    <p:extLst>
      <p:ext uri="{BB962C8B-B14F-4D97-AF65-F5344CB8AC3E}">
        <p14:creationId xmlns:p14="http://schemas.microsoft.com/office/powerpoint/2010/main" val="15291816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629548-093E-42BB-8FC9-16EDAD0C8983}"/>
              </a:ext>
            </a:extLst>
          </p:cNvPr>
          <p:cNvSpPr>
            <a:spLocks xmlns:a="http://schemas.openxmlformats.org/drawingml/2006/main" noGrp="1"/>
          </p:cNvSpPr>
          <p:nvPr/>
        </p:nvSpPr>
        <p:spPr>
          <a:xfrm xmlns:a="http://schemas.openxmlformats.org/drawingml/2006/main">
            <a:off x="400050" y="304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55555"/>
                </a:solidFill>
              </a:defRPr>
            </a:pPr>
            <a:r>
              <a:rPr sz="1050" b="1">
                <a:solidFill>
                  <a:srgbClr val="555555"/>
                </a:solidFill>
              </a:rPr>
              <a:t>CHALLENGES</a:t>
            </a:r>
          </a:p>
        </p:txBody>
      </p:sp>
      <p:sp>
        <p:nvSpPr>
          <p:cNvPr id="2" name="">
            <a:extLst xmlns:a="http://schemas.openxmlformats.org/drawingml/2006/main">
              <a:ext uri="{FF2B5EF4-FFF2-40B4-BE49-F238E27FC236}">
                <a16:creationId xmlns:a16="http://schemas.microsoft.com/office/drawing/2014/main" id="{C8B11E60-0DA0-4E0A-A36A-A12DB12277F7}"/>
              </a:ext>
            </a:extLst>
          </p:cNvPr>
          <p:cNvSpPr>
            <a:spLocks xmlns:a="http://schemas.openxmlformats.org/drawingml/2006/main" noGrp="1"/>
          </p:cNvSpPr>
          <p:nvPr/>
        </p:nvSpPr>
        <p:spPr>
          <a:xfrm xmlns:a="http://schemas.openxmlformats.org/drawingml/2006/main">
            <a:off x="400050" y="628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11111"/>
                </a:solidFill>
              </a:defRPr>
            </a:pPr>
            <a:r>
              <a:rPr sz="2925" b="1">
                <a:solidFill>
                  <a:srgbClr val="111111"/>
                </a:solidFill>
              </a:rPr>
              <a:t>The main challenges are manageable, but they need active ownership</a:t>
            </a:r>
          </a:p>
        </p:txBody>
      </p:sp>
      <p:sp>
        <p:nvSpPr>
          <p:cNvPr id="3" name="">
            <a:extLst xmlns:a="http://schemas.openxmlformats.org/drawingml/2006/main">
              <a:ext uri="{FF2B5EF4-FFF2-40B4-BE49-F238E27FC236}">
                <a16:creationId xmlns:a16="http://schemas.microsoft.com/office/drawing/2014/main" id="{D0F78CB2-F6C3-488C-BA6A-BAAD7439D54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2E3E5729-8947-44C7-97FC-FF9CF2F8E843}"/>
              </a:ext>
            </a:extLst>
          </p:cNvPr>
          <p:cNvSpPr>
            <a:spLocks xmlns:a="http://schemas.openxmlformats.org/drawingml/2006/main" noGrp="1"/>
          </p:cNvSpPr>
          <p:nvPr/>
        </p:nvSpPr>
        <p:spPr>
          <a:xfrm xmlns:a="http://schemas.openxmlformats.org/drawingml/2006/main">
            <a:off x="400050" y="6381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dstrmaysam healthcare knowledge multi-agent</a:t>
            </a:r>
          </a:p>
        </p:txBody>
      </p:sp>
      <p:sp>
        <p:nvSpPr>
          <p:cNvPr id="5" name="">
            <a:extLst xmlns:a="http://schemas.openxmlformats.org/drawingml/2006/main">
              <a:ext uri="{FF2B5EF4-FFF2-40B4-BE49-F238E27FC236}">
                <a16:creationId xmlns:a16="http://schemas.microsoft.com/office/drawing/2014/main" id="{6E398375-F585-4C1D-BDD3-E522B6117AB7}"/>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defRPr>
            </a:pPr>
            <a:r>
              <a:rPr sz="975" b="0">
                <a:solidFill>
                  <a:srgbClr val="555555"/>
                </a:solidFill>
              </a:rPr>
              <a:t>10</a:t>
            </a:r>
          </a:p>
        </p:txBody>
      </p:sp>
      <p:sp>
        <p:nvSpPr>
          <p:cNvPr id="6" name="">
            <a:extLst xmlns:a="http://schemas.openxmlformats.org/drawingml/2006/main">
              <a:ext uri="{FF2B5EF4-FFF2-40B4-BE49-F238E27FC236}">
                <a16:creationId xmlns:a16="http://schemas.microsoft.com/office/drawing/2014/main" id="{A2B3B449-2965-4599-9821-AA3D5DDC84B5}"/>
              </a:ext>
            </a:extLst>
          </p:cNvPr>
          <p:cNvSpPr>
            <a:spLocks xmlns:a="http://schemas.openxmlformats.org/drawingml/2006/main" noGrp="1"/>
          </p:cNvSpPr>
          <p:nvPr/>
        </p:nvSpPr>
        <p:spPr>
          <a:xfrm xmlns:a="http://schemas.openxmlformats.org/drawingml/2006/main">
            <a:off x="571500" y="2047875"/>
            <a:ext cx="2476500" cy="1619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3A266E-12D9-4B55-AB83-71F8FA529CFA}"/>
              </a:ext>
            </a:extLst>
          </p:cNvPr>
          <p:cNvSpPr>
            <a:spLocks xmlns:a="http://schemas.openxmlformats.org/drawingml/2006/main" noGrp="1"/>
          </p:cNvSpPr>
          <p:nvPr/>
        </p:nvSpPr>
        <p:spPr>
          <a:xfrm xmlns:a="http://schemas.openxmlformats.org/drawingml/2006/main">
            <a:off x="781050" y="2276475"/>
            <a:ext cx="205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6B35"/>
                </a:solidFill>
              </a:defRPr>
            </a:pPr>
            <a:r>
              <a:rPr sz="2025" b="1">
                <a:solidFill>
                  <a:srgbClr val="FF6B35"/>
                </a:solidFill>
              </a:rPr>
              <a:t>Routing quality</a:t>
            </a:r>
          </a:p>
        </p:txBody>
      </p:sp>
      <p:sp>
        <p:nvSpPr>
          <p:cNvPr id="8" name="">
            <a:extLst xmlns:a="http://schemas.openxmlformats.org/drawingml/2006/main">
              <a:ext uri="{FF2B5EF4-FFF2-40B4-BE49-F238E27FC236}">
                <a16:creationId xmlns:a16="http://schemas.microsoft.com/office/drawing/2014/main" id="{1DECF87D-0650-4AB0-9459-9B6E91F9452D}"/>
              </a:ext>
            </a:extLst>
          </p:cNvPr>
          <p:cNvSpPr>
            <a:spLocks xmlns:a="http://schemas.openxmlformats.org/drawingml/2006/main" noGrp="1"/>
          </p:cNvSpPr>
          <p:nvPr/>
        </p:nvSpPr>
        <p:spPr>
          <a:xfrm xmlns:a="http://schemas.openxmlformats.org/drawingml/2006/main">
            <a:off x="781050" y="2828925"/>
            <a:ext cx="2057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Catalog, policy, RAG, and database paths need continuous test coverage.</a:t>
            </a:r>
          </a:p>
        </p:txBody>
      </p:sp>
      <p:sp>
        <p:nvSpPr>
          <p:cNvPr id="9" name="">
            <a:extLst xmlns:a="http://schemas.openxmlformats.org/drawingml/2006/main">
              <a:ext uri="{FF2B5EF4-FFF2-40B4-BE49-F238E27FC236}">
                <a16:creationId xmlns:a16="http://schemas.microsoft.com/office/drawing/2014/main" id="{1C4C735E-F398-41B7-AD0A-B2BDF6CC3D6B}"/>
              </a:ext>
            </a:extLst>
          </p:cNvPr>
          <p:cNvSpPr>
            <a:spLocks xmlns:a="http://schemas.openxmlformats.org/drawingml/2006/main" noGrp="1"/>
          </p:cNvSpPr>
          <p:nvPr/>
        </p:nvSpPr>
        <p:spPr>
          <a:xfrm xmlns:a="http://schemas.openxmlformats.org/drawingml/2006/main">
            <a:off x="3476625" y="2047875"/>
            <a:ext cx="2476500" cy="1619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9494513-1C10-42D6-A796-69BAD7817465}"/>
              </a:ext>
            </a:extLst>
          </p:cNvPr>
          <p:cNvSpPr>
            <a:spLocks xmlns:a="http://schemas.openxmlformats.org/drawingml/2006/main" noGrp="1"/>
          </p:cNvSpPr>
          <p:nvPr/>
        </p:nvSpPr>
        <p:spPr>
          <a:xfrm xmlns:a="http://schemas.openxmlformats.org/drawingml/2006/main">
            <a:off x="3686175" y="2276475"/>
            <a:ext cx="205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0E7490"/>
                </a:solidFill>
              </a:defRPr>
            </a:pPr>
            <a:r>
              <a:rPr sz="2025" b="1">
                <a:solidFill>
                  <a:srgbClr val="0E7490"/>
                </a:solidFill>
              </a:rPr>
              <a:t>Evidence quality</a:t>
            </a:r>
          </a:p>
        </p:txBody>
      </p:sp>
      <p:sp>
        <p:nvSpPr>
          <p:cNvPr id="11" name="">
            <a:extLst xmlns:a="http://schemas.openxmlformats.org/drawingml/2006/main">
              <a:ext uri="{FF2B5EF4-FFF2-40B4-BE49-F238E27FC236}">
                <a16:creationId xmlns:a16="http://schemas.microsoft.com/office/drawing/2014/main" id="{05A3B94F-7846-4D7B-B37E-BE5C7E144DFF}"/>
              </a:ext>
            </a:extLst>
          </p:cNvPr>
          <p:cNvSpPr>
            <a:spLocks xmlns:a="http://schemas.openxmlformats.org/drawingml/2006/main" noGrp="1"/>
          </p:cNvSpPr>
          <p:nvPr/>
        </p:nvSpPr>
        <p:spPr>
          <a:xfrm xmlns:a="http://schemas.openxmlformats.org/drawingml/2006/main">
            <a:off x="3686175" y="2828925"/>
            <a:ext cx="2057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Good answers depend on metadata, chunking, fresh sources, and complete tables.</a:t>
            </a:r>
          </a:p>
        </p:txBody>
      </p:sp>
      <p:sp>
        <p:nvSpPr>
          <p:cNvPr id="12" name="">
            <a:extLst xmlns:a="http://schemas.openxmlformats.org/drawingml/2006/main">
              <a:ext uri="{FF2B5EF4-FFF2-40B4-BE49-F238E27FC236}">
                <a16:creationId xmlns:a16="http://schemas.microsoft.com/office/drawing/2014/main" id="{9C793E26-C887-4B5F-9638-2921B8CB4E53}"/>
              </a:ext>
            </a:extLst>
          </p:cNvPr>
          <p:cNvSpPr>
            <a:spLocks xmlns:a="http://schemas.openxmlformats.org/drawingml/2006/main" noGrp="1"/>
          </p:cNvSpPr>
          <p:nvPr/>
        </p:nvSpPr>
        <p:spPr>
          <a:xfrm xmlns:a="http://schemas.openxmlformats.org/drawingml/2006/main">
            <a:off x="6381750" y="2047875"/>
            <a:ext cx="2476500" cy="1619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DC1F922-CF65-4CD2-8823-F9705A2E901D}"/>
              </a:ext>
            </a:extLst>
          </p:cNvPr>
          <p:cNvSpPr>
            <a:spLocks xmlns:a="http://schemas.openxmlformats.org/drawingml/2006/main" noGrp="1"/>
          </p:cNvSpPr>
          <p:nvPr/>
        </p:nvSpPr>
        <p:spPr>
          <a:xfrm xmlns:a="http://schemas.openxmlformats.org/drawingml/2006/main">
            <a:off x="6591300" y="2276475"/>
            <a:ext cx="205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66534"/>
                </a:solidFill>
              </a:defRPr>
            </a:pPr>
            <a:r>
              <a:rPr sz="2025" b="1">
                <a:solidFill>
                  <a:srgbClr val="166534"/>
                </a:solidFill>
              </a:rPr>
              <a:t>Latency and cost</a:t>
            </a:r>
          </a:p>
        </p:txBody>
      </p:sp>
      <p:sp>
        <p:nvSpPr>
          <p:cNvPr id="14" name="">
            <a:extLst xmlns:a="http://schemas.openxmlformats.org/drawingml/2006/main">
              <a:ext uri="{FF2B5EF4-FFF2-40B4-BE49-F238E27FC236}">
                <a16:creationId xmlns:a16="http://schemas.microsoft.com/office/drawing/2014/main" id="{399C6274-FCA9-439A-81CF-C1AF741506D1}"/>
              </a:ext>
            </a:extLst>
          </p:cNvPr>
          <p:cNvSpPr>
            <a:spLocks xmlns:a="http://schemas.openxmlformats.org/drawingml/2006/main" noGrp="1"/>
          </p:cNvSpPr>
          <p:nvPr/>
        </p:nvSpPr>
        <p:spPr>
          <a:xfrm xmlns:a="http://schemas.openxmlformats.org/drawingml/2006/main">
            <a:off x="6591300" y="2828925"/>
            <a:ext cx="2057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More specialist reasoning improves assurance but can add LLM calls.</a:t>
            </a:r>
          </a:p>
        </p:txBody>
      </p:sp>
      <p:sp>
        <p:nvSpPr>
          <p:cNvPr id="15" name="">
            <a:extLst xmlns:a="http://schemas.openxmlformats.org/drawingml/2006/main">
              <a:ext uri="{FF2B5EF4-FFF2-40B4-BE49-F238E27FC236}">
                <a16:creationId xmlns:a16="http://schemas.microsoft.com/office/drawing/2014/main" id="{938CF2FE-1091-464E-931B-47ED94FC4652}"/>
              </a:ext>
            </a:extLst>
          </p:cNvPr>
          <p:cNvSpPr>
            <a:spLocks xmlns:a="http://schemas.openxmlformats.org/drawingml/2006/main" noGrp="1"/>
          </p:cNvSpPr>
          <p:nvPr/>
        </p:nvSpPr>
        <p:spPr>
          <a:xfrm xmlns:a="http://schemas.openxmlformats.org/drawingml/2006/main">
            <a:off x="9286875" y="2047875"/>
            <a:ext cx="2190750" cy="1619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6BE1221-7C8A-4ECD-958B-492A1E6BEBD8}"/>
              </a:ext>
            </a:extLst>
          </p:cNvPr>
          <p:cNvSpPr>
            <a:spLocks xmlns:a="http://schemas.openxmlformats.org/drawingml/2006/main" noGrp="1"/>
          </p:cNvSpPr>
          <p:nvPr/>
        </p:nvSpPr>
        <p:spPr>
          <a:xfrm xmlns:a="http://schemas.openxmlformats.org/drawingml/2006/main">
            <a:off x="9496425" y="2276475"/>
            <a:ext cx="1771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11111"/>
                </a:solidFill>
              </a:defRPr>
            </a:pPr>
            <a:r>
              <a:rPr sz="2025" b="1">
                <a:solidFill>
                  <a:srgbClr val="111111"/>
                </a:solidFill>
              </a:rPr>
              <a:t>Cloud networking</a:t>
            </a:r>
          </a:p>
        </p:txBody>
      </p:sp>
      <p:sp>
        <p:nvSpPr>
          <p:cNvPr id="17" name="">
            <a:extLst xmlns:a="http://schemas.openxmlformats.org/drawingml/2006/main">
              <a:ext uri="{FF2B5EF4-FFF2-40B4-BE49-F238E27FC236}">
                <a16:creationId xmlns:a16="http://schemas.microsoft.com/office/drawing/2014/main" id="{7A27E717-248A-490C-8E7D-4EB923A01DEB}"/>
              </a:ext>
            </a:extLst>
          </p:cNvPr>
          <p:cNvSpPr>
            <a:spLocks xmlns:a="http://schemas.openxmlformats.org/drawingml/2006/main" noGrp="1"/>
          </p:cNvSpPr>
          <p:nvPr/>
        </p:nvSpPr>
        <p:spPr>
          <a:xfrm xmlns:a="http://schemas.openxmlformats.org/drawingml/2006/main">
            <a:off x="9496425" y="2828925"/>
            <a:ext cx="1771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defRPr>
            </a:pPr>
            <a:r>
              <a:rPr sz="1350" b="0">
                <a:solidFill>
                  <a:srgbClr val="111111"/>
                </a:solidFill>
              </a:rPr>
              <a:t>MCP, RDS, ALB, secrets, and VPC routing must stay aligned.</a:t>
            </a:r>
          </a:p>
        </p:txBody>
      </p:sp>
      <p:sp>
        <p:nvSpPr>
          <p:cNvPr id="18" name="">
            <a:extLst xmlns:a="http://schemas.openxmlformats.org/drawingml/2006/main">
              <a:ext uri="{FF2B5EF4-FFF2-40B4-BE49-F238E27FC236}">
                <a16:creationId xmlns:a16="http://schemas.microsoft.com/office/drawing/2014/main" id="{6F150793-F641-4F7A-A772-D052A9AE17BE}"/>
              </a:ext>
            </a:extLst>
          </p:cNvPr>
          <p:cNvSpPr>
            <a:spLocks xmlns:a="http://schemas.openxmlformats.org/drawingml/2006/main" noGrp="1"/>
          </p:cNvSpPr>
          <p:nvPr/>
        </p:nvSpPr>
        <p:spPr>
          <a:xfrm xmlns:a="http://schemas.openxmlformats.org/drawingml/2006/main">
            <a:off x="1143000" y="4524375"/>
            <a:ext cx="981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0">
                <a:solidFill>
                  <a:srgbClr val="555555"/>
                </a:solidFill>
              </a:defRPr>
            </a:pPr>
            <a:r>
              <a:rPr sz="1800" b="0">
                <a:solidFill>
                  <a:srgbClr val="555555"/>
                </a:solidFill>
              </a:rPr>
              <a:t>These are not blockers; they are operating disciplines. The current dashboard and evaluations page are designed to expose them early.</a:t>
            </a:r>
          </a:p>
        </p:txBody>
      </p:sp>
    </p:spTree>
    <p:extLst>
      <p:ext uri="{BB962C8B-B14F-4D97-AF65-F5344CB8AC3E}">
        <p14:creationId xmlns:p14="http://schemas.microsoft.com/office/powerpoint/2010/main" val="12174518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D83E10-B5ED-4D90-B835-59D408B23E6B}"/>
              </a:ext>
            </a:extLst>
          </p:cNvPr>
          <p:cNvSpPr>
            <a:spLocks xmlns:a="http://schemas.openxmlformats.org/drawingml/2006/main" noGrp="1"/>
          </p:cNvSpPr>
          <p:nvPr/>
        </p:nvSpPr>
        <p:spPr>
          <a:xfrm xmlns:a="http://schemas.openxmlformats.org/drawingml/2006/main">
            <a:off x="400050" y="304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55555"/>
                </a:solidFill>
              </a:defRPr>
            </a:pPr>
            <a:r>
              <a:rPr sz="1050" b="1">
                <a:solidFill>
                  <a:srgbClr val="555555"/>
                </a:solidFill>
              </a:rPr>
              <a:t>RECOMMENDED NEXT STEPS</a:t>
            </a:r>
          </a:p>
        </p:txBody>
      </p:sp>
      <p:sp>
        <p:nvSpPr>
          <p:cNvPr id="2" name="">
            <a:extLst xmlns:a="http://schemas.openxmlformats.org/drawingml/2006/main">
              <a:ext uri="{FF2B5EF4-FFF2-40B4-BE49-F238E27FC236}">
                <a16:creationId xmlns:a16="http://schemas.microsoft.com/office/drawing/2014/main" id="{6C126C86-E176-4971-BD9B-22C2AFE41717}"/>
              </a:ext>
            </a:extLst>
          </p:cNvPr>
          <p:cNvSpPr>
            <a:spLocks xmlns:a="http://schemas.openxmlformats.org/drawingml/2006/main" noGrp="1"/>
          </p:cNvSpPr>
          <p:nvPr/>
        </p:nvSpPr>
        <p:spPr>
          <a:xfrm xmlns:a="http://schemas.openxmlformats.org/drawingml/2006/main">
            <a:off x="400050" y="628650"/>
            <a:ext cx="10287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111111"/>
                </a:solidFill>
              </a:defRPr>
            </a:pPr>
            <a:r>
              <a:rPr sz="2925" b="1">
                <a:solidFill>
                  <a:srgbClr val="111111"/>
                </a:solidFill>
              </a:rPr>
              <a:t>The next phase is production hardening and wider tool reuse</a:t>
            </a:r>
          </a:p>
        </p:txBody>
      </p:sp>
      <p:sp>
        <p:nvSpPr>
          <p:cNvPr id="3" name="">
            <a:extLst xmlns:a="http://schemas.openxmlformats.org/drawingml/2006/main">
              <a:ext uri="{FF2B5EF4-FFF2-40B4-BE49-F238E27FC236}">
                <a16:creationId xmlns:a16="http://schemas.microsoft.com/office/drawing/2014/main" id="{74300000-7A5D-4C92-B1B2-D5284EB28545}"/>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
            <a:extLst xmlns:a="http://schemas.openxmlformats.org/drawingml/2006/main">
              <a:ext uri="{FF2B5EF4-FFF2-40B4-BE49-F238E27FC236}">
                <a16:creationId xmlns:a16="http://schemas.microsoft.com/office/drawing/2014/main" id="{98F6BFE2-F62A-415E-AD53-5B4DF866947E}"/>
              </a:ext>
            </a:extLst>
          </p:cNvPr>
          <p:cNvSpPr>
            <a:spLocks xmlns:a="http://schemas.openxmlformats.org/drawingml/2006/main" noGrp="1"/>
          </p:cNvSpPr>
          <p:nvPr/>
        </p:nvSpPr>
        <p:spPr>
          <a:xfrm xmlns:a="http://schemas.openxmlformats.org/drawingml/2006/main">
            <a:off x="400050" y="6381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55555"/>
                </a:solidFill>
              </a:defRPr>
            </a:pPr>
            <a:r>
              <a:rPr sz="975" b="0">
                <a:solidFill>
                  <a:srgbClr val="555555"/>
                </a:solidFill>
              </a:rPr>
              <a:t>dstrmaysam healthcare knowledge multi-agent</a:t>
            </a:r>
          </a:p>
        </p:txBody>
      </p:sp>
      <p:sp>
        <p:nvSpPr>
          <p:cNvPr id="5" name="">
            <a:extLst xmlns:a="http://schemas.openxmlformats.org/drawingml/2006/main">
              <a:ext uri="{FF2B5EF4-FFF2-40B4-BE49-F238E27FC236}">
                <a16:creationId xmlns:a16="http://schemas.microsoft.com/office/drawing/2014/main" id="{9A727876-BA79-43E7-9153-0CF8CB3BB411}"/>
              </a:ext>
            </a:extLst>
          </p:cNvPr>
          <p:cNvSpPr>
            <a:spLocks xmlns:a="http://schemas.openxmlformats.org/drawingml/2006/main" noGrp="1"/>
          </p:cNvSpPr>
          <p:nvPr/>
        </p:nvSpPr>
        <p:spPr>
          <a:xfrm xmlns:a="http://schemas.openxmlformats.org/drawingml/2006/main">
            <a:off x="11334750" y="63817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555555"/>
                </a:solidFill>
              </a:defRPr>
            </a:pPr>
            <a:r>
              <a:rPr sz="975" b="0">
                <a:solidFill>
                  <a:srgbClr val="555555"/>
                </a:solidFill>
              </a:rPr>
              <a:t>11</a:t>
            </a:r>
          </a:p>
        </p:txBody>
      </p:sp>
      <p:sp>
        <p:nvSpPr>
          <p:cNvPr id="6" name="">
            <a:extLst xmlns:a="http://schemas.openxmlformats.org/drawingml/2006/main">
              <a:ext uri="{FF2B5EF4-FFF2-40B4-BE49-F238E27FC236}">
                <a16:creationId xmlns:a16="http://schemas.microsoft.com/office/drawing/2014/main" id="{2FFA6E4E-7020-4FBE-94AC-9013C0AD0A39}"/>
              </a:ext>
            </a:extLst>
          </p:cNvPr>
          <p:cNvSpPr>
            <a:spLocks xmlns:a="http://schemas.openxmlformats.org/drawingml/2006/main" noGrp="1"/>
          </p:cNvSpPr>
          <p:nvPr/>
        </p:nvSpPr>
        <p:spPr>
          <a:xfrm xmlns:a="http://schemas.openxmlformats.org/drawingml/2006/main">
            <a:off x="895350" y="2000250"/>
            <a:ext cx="93345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11111"/>
                </a:solidFill>
              </a:defRPr>
            </a:pPr>
            <a:r>
              <a:rPr sz="1800" b="0">
                <a:solidFill>
                  <a:srgbClr val="111111"/>
                </a:solidFill>
              </a:rPr>
              <a:t>- Add HTTPS with a managed domain and certificate for user-facing and webhook endpoints.</a:t>
            </a:r>
          </a:p>
          <a:p xmlns:a="http://schemas.openxmlformats.org/drawingml/2006/main">
            <a:pPr algn="l">
              <a:defRPr sz="1800" b="0">
                <a:solidFill>
                  <a:srgbClr val="111111"/>
                </a:solidFill>
              </a:defRPr>
            </a:pPr>
            <a:r>
              <a:rPr sz="1800" b="0">
                <a:solidFill>
                  <a:srgbClr val="111111"/>
                </a:solidFill>
              </a:rPr>
              <a:t>- Keep expanding the golden dataset as new documents, CRM tables, and query patterns are added.</a:t>
            </a:r>
          </a:p>
          <a:p xmlns:a="http://schemas.openxmlformats.org/drawingml/2006/main">
            <a:pPr algn="l">
              <a:defRPr sz="1800" b="0">
                <a:solidFill>
                  <a:srgbClr val="111111"/>
                </a:solidFill>
              </a:defRPr>
            </a:pPr>
            <a:r>
              <a:rPr sz="1800" b="0">
                <a:solidFill>
                  <a:srgbClr val="111111"/>
                </a:solidFill>
              </a:rPr>
              <a:t>- Stabilise shared MCP deployment so every project gets the same tool quality with project-specific secrets.</a:t>
            </a:r>
          </a:p>
          <a:p xmlns:a="http://schemas.openxmlformats.org/drawingml/2006/main">
            <a:pPr algn="l">
              <a:defRPr sz="1800" b="0">
                <a:solidFill>
                  <a:srgbClr val="111111"/>
                </a:solidFill>
              </a:defRPr>
            </a:pPr>
            <a:r>
              <a:rPr sz="1800" b="0">
                <a:solidFill>
                  <a:srgbClr val="111111"/>
                </a:solidFill>
              </a:rPr>
              <a:t>- Tune chunking and retrieval using real failure cases from evaluations rather than generic benchmarks.</a:t>
            </a:r>
          </a:p>
          <a:p xmlns:a="http://schemas.openxmlformats.org/drawingml/2006/main">
            <a:pPr algn="l">
              <a:defRPr sz="1800" b="0">
                <a:solidFill>
                  <a:srgbClr val="111111"/>
                </a:solidFill>
              </a:defRPr>
            </a:pPr>
            <a:r>
              <a:rPr sz="1800" b="0">
                <a:solidFill>
                  <a:srgbClr val="111111"/>
                </a:solidFill>
              </a:rPr>
              <a:t>- Add monitoring alerts for RDS connectivity, OpenSearch failures, MCP fallback, LLM rate limits, latency, and cost.</a:t>
            </a:r>
          </a:p>
        </p:txBody>
      </p:sp>
      <p:sp>
        <p:nvSpPr>
          <p:cNvPr id="7" name="">
            <a:extLst xmlns:a="http://schemas.openxmlformats.org/drawingml/2006/main">
              <a:ext uri="{FF2B5EF4-FFF2-40B4-BE49-F238E27FC236}">
                <a16:creationId xmlns:a16="http://schemas.microsoft.com/office/drawing/2014/main" id="{8DA17B6D-2B23-434E-9007-EC3817CEC969}"/>
              </a:ext>
            </a:extLst>
          </p:cNvPr>
          <p:cNvSpPr>
            <a:spLocks xmlns:a="http://schemas.openxmlformats.org/drawingml/2006/main" noGrp="1"/>
          </p:cNvSpPr>
          <p:nvPr/>
        </p:nvSpPr>
        <p:spPr>
          <a:xfrm xmlns:a="http://schemas.openxmlformats.org/drawingml/2006/main">
            <a:off x="1047750" y="53816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0">
                <a:solidFill>
                  <a:srgbClr val="555555"/>
                </a:solidFill>
              </a:defRPr>
            </a:pPr>
            <a:r>
              <a:rPr sz="1725" b="0">
                <a:solidFill>
                  <a:srgbClr val="555555"/>
                </a:solidFill>
              </a:rPr>
              <a:t>The system is already structured for this path: agents stay in the backend, tools are shared, and quality is measured at the full-system level.</a:t>
            </a:r>
          </a:p>
        </p:txBody>
      </p:sp>
    </p:spTree>
    <p:extLst>
      <p:ext uri="{BB962C8B-B14F-4D97-AF65-F5344CB8AC3E}">
        <p14:creationId xmlns:p14="http://schemas.microsoft.com/office/powerpoint/2010/main" val="16195714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2026-07-06T14:43:42.4100000Z</dcterms:created>
  <dcterms:modified xsi:type="dcterms:W3CDTF">2026-07-06T14:43:42.4100000Z</dcterms:modified>
</coreProperties>
</file>